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83" r:id="rId2"/>
    <p:sldId id="264" r:id="rId3"/>
    <p:sldId id="298" r:id="rId4"/>
    <p:sldId id="299" r:id="rId5"/>
    <p:sldId id="300" r:id="rId6"/>
    <p:sldId id="301" r:id="rId7"/>
    <p:sldId id="302" r:id="rId8"/>
    <p:sldId id="306" r:id="rId9"/>
    <p:sldId id="307" r:id="rId10"/>
    <p:sldId id="308" r:id="rId11"/>
    <p:sldId id="258" r:id="rId12"/>
    <p:sldId id="259" r:id="rId13"/>
    <p:sldId id="291" r:id="rId14"/>
    <p:sldId id="292" r:id="rId15"/>
    <p:sldId id="293" r:id="rId16"/>
    <p:sldId id="294" r:id="rId17"/>
    <p:sldId id="295" r:id="rId18"/>
    <p:sldId id="296" r:id="rId19"/>
    <p:sldId id="303" r:id="rId20"/>
    <p:sldId id="304" r:id="rId21"/>
    <p:sldId id="305" r:id="rId22"/>
    <p:sldId id="309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1pPr>
    <a:lvl2pPr marL="0" marR="0" indent="2286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2pPr>
    <a:lvl3pPr marL="0" marR="0" indent="4572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3pPr>
    <a:lvl4pPr marL="0" marR="0" indent="6858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4pPr>
    <a:lvl5pPr marL="0" marR="0" indent="9144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5pPr>
    <a:lvl6pPr marL="0" marR="0" indent="11430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6pPr>
    <a:lvl7pPr marL="0" marR="0" indent="13716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7pPr>
    <a:lvl8pPr marL="0" marR="0" indent="16002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8pPr>
    <a:lvl9pPr marL="0" marR="0" indent="1828800" algn="l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300" b="0" i="0" u="none" strike="noStrike" cap="none" spc="0" normalizeH="0" baseline="0">
        <a:ln>
          <a:noFill/>
        </a:ln>
        <a:solidFill>
          <a:srgbClr val="939393"/>
        </a:solidFill>
        <a:effectLst/>
        <a:uFillTx/>
        <a:latin typeface="PT Sans"/>
        <a:ea typeface="PT Sans"/>
        <a:cs typeface="PT Sans"/>
        <a:sym typeface="PT San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807F"/>
    <a:srgbClr val="FFFFFF"/>
    <a:srgbClr val="FF8B5F"/>
    <a:srgbClr val="6F3508"/>
    <a:srgbClr val="F0F0F0"/>
    <a:srgbClr val="FF8A3D"/>
    <a:srgbClr val="FCAB40"/>
    <a:srgbClr val="7BC25E"/>
    <a:srgbClr val="272727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86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xfrm>
            <a:off x="11971114" y="11525250"/>
            <a:ext cx="432247" cy="482601"/>
          </a:xfrm>
          <a:prstGeom prst="rect">
            <a:avLst/>
          </a:prstGeom>
        </p:spPr>
        <p:txBody>
          <a:bodyPr wrap="none"/>
          <a:lstStyle>
            <a:lvl1pPr>
              <a:defRPr sz="2400" cap="none" spc="0">
                <a:latin typeface="Roboto Regular"/>
                <a:ea typeface="Roboto Regular"/>
                <a:cs typeface="Roboto Regular"/>
                <a:sym typeface="Roboto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xfrm>
            <a:off x="11971114" y="11525250"/>
            <a:ext cx="432247" cy="482601"/>
          </a:xfrm>
          <a:prstGeom prst="rect">
            <a:avLst/>
          </a:prstGeom>
        </p:spPr>
        <p:txBody>
          <a:bodyPr wrap="none"/>
          <a:lstStyle>
            <a:lvl1pPr>
              <a:defRPr sz="2400" cap="none" spc="0">
                <a:latin typeface="Roboto Regular"/>
                <a:ea typeface="Roboto Regular"/>
                <a:cs typeface="Roboto Regular"/>
                <a:sym typeface="Roboto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1828800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1"/>
          </p:nvPr>
        </p:nvSpPr>
        <p:spPr>
          <a:xfrm>
            <a:off x="6187424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Рисунок 2"/>
          <p:cNvSpPr>
            <a:spLocks noGrp="1"/>
          </p:cNvSpPr>
          <p:nvPr>
            <p:ph type="pic" sz="quarter" idx="12"/>
          </p:nvPr>
        </p:nvSpPr>
        <p:spPr>
          <a:xfrm>
            <a:off x="10546048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>
          <a:xfrm>
            <a:off x="14904672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4"/>
          </p:nvPr>
        </p:nvSpPr>
        <p:spPr>
          <a:xfrm>
            <a:off x="19263294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5"/>
          </p:nvPr>
        </p:nvSpPr>
        <p:spPr>
          <a:xfrm>
            <a:off x="1828800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Рисунок 2"/>
          <p:cNvSpPr>
            <a:spLocks noGrp="1"/>
          </p:cNvSpPr>
          <p:nvPr>
            <p:ph type="pic" sz="quarter" idx="16"/>
          </p:nvPr>
        </p:nvSpPr>
        <p:spPr>
          <a:xfrm>
            <a:off x="6187424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>
          <a:xfrm>
            <a:off x="10546048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>
          <a:xfrm>
            <a:off x="14904672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9"/>
          </p:nvPr>
        </p:nvSpPr>
        <p:spPr>
          <a:xfrm>
            <a:off x="19263294" y="6684056"/>
            <a:ext cx="3337355" cy="336999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5136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hape 43"/>
          <p:cNvSpPr>
            <a:spLocks noGrp="1"/>
          </p:cNvSpPr>
          <p:nvPr>
            <p:ph type="sldNum" sz="quarter" idx="2"/>
          </p:nvPr>
        </p:nvSpPr>
        <p:spPr>
          <a:xfrm>
            <a:off x="22600649" y="12233456"/>
            <a:ext cx="607908" cy="355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sldNum" sz="quarter" idx="2"/>
          </p:nvPr>
        </p:nvSpPr>
        <p:spPr>
          <a:xfrm>
            <a:off x="22600649" y="12233456"/>
            <a:ext cx="607908" cy="355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1828800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1"/>
          </p:nvPr>
        </p:nvSpPr>
        <p:spPr>
          <a:xfrm>
            <a:off x="6187424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2"/>
          </p:nvPr>
        </p:nvSpPr>
        <p:spPr>
          <a:xfrm>
            <a:off x="10546048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Рисунок 2"/>
          <p:cNvSpPr>
            <a:spLocks noGrp="1"/>
          </p:cNvSpPr>
          <p:nvPr>
            <p:ph type="pic" sz="quarter" idx="13"/>
          </p:nvPr>
        </p:nvSpPr>
        <p:spPr>
          <a:xfrm>
            <a:off x="14904672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4"/>
          </p:nvPr>
        </p:nvSpPr>
        <p:spPr>
          <a:xfrm>
            <a:off x="19263294" y="2403793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5"/>
          </p:nvPr>
        </p:nvSpPr>
        <p:spPr>
          <a:xfrm>
            <a:off x="1828800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6"/>
          </p:nvPr>
        </p:nvSpPr>
        <p:spPr>
          <a:xfrm>
            <a:off x="6187424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7"/>
          </p:nvPr>
        </p:nvSpPr>
        <p:spPr>
          <a:xfrm>
            <a:off x="10546048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18"/>
          </p:nvPr>
        </p:nvSpPr>
        <p:spPr>
          <a:xfrm>
            <a:off x="14904672" y="6684056"/>
            <a:ext cx="3337355" cy="336999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Рисунок 2"/>
          <p:cNvSpPr>
            <a:spLocks noGrp="1"/>
          </p:cNvSpPr>
          <p:nvPr>
            <p:ph type="pic" sz="quarter" idx="19"/>
          </p:nvPr>
        </p:nvSpPr>
        <p:spPr>
          <a:xfrm>
            <a:off x="19263294" y="6684056"/>
            <a:ext cx="3337355" cy="336999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1741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with photo"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sldNum" sz="quarter" idx="2"/>
          </p:nvPr>
        </p:nvSpPr>
        <p:spPr>
          <a:xfrm>
            <a:off x="563994" y="635695"/>
            <a:ext cx="607908" cy="495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1C0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3" name="Shape 43"/>
          <p:cNvSpPr/>
          <p:nvPr/>
        </p:nvSpPr>
        <p:spPr>
          <a:xfrm>
            <a:off x="732314" y="7352837"/>
            <a:ext cx="271268" cy="216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37" y="5082"/>
                </a:moveTo>
                <a:cubicBezTo>
                  <a:pt x="19237" y="5506"/>
                  <a:pt x="19237" y="5929"/>
                  <a:pt x="19237" y="5929"/>
                </a:cubicBezTo>
                <a:cubicBezTo>
                  <a:pt x="19237" y="13129"/>
                  <a:pt x="14850" y="21600"/>
                  <a:pt x="6750" y="21600"/>
                </a:cubicBezTo>
                <a:cubicBezTo>
                  <a:pt x="4388" y="21600"/>
                  <a:pt x="2025" y="20753"/>
                  <a:pt x="0" y="19059"/>
                </a:cubicBezTo>
                <a:cubicBezTo>
                  <a:pt x="338" y="19059"/>
                  <a:pt x="675" y="19059"/>
                  <a:pt x="1013" y="19059"/>
                </a:cubicBezTo>
                <a:cubicBezTo>
                  <a:pt x="3038" y="19059"/>
                  <a:pt x="5063" y="18212"/>
                  <a:pt x="6413" y="16941"/>
                </a:cubicBezTo>
                <a:cubicBezTo>
                  <a:pt x="4725" y="16941"/>
                  <a:pt x="3038" y="15247"/>
                  <a:pt x="2363" y="13129"/>
                </a:cubicBezTo>
                <a:cubicBezTo>
                  <a:pt x="2700" y="13129"/>
                  <a:pt x="3038" y="13129"/>
                  <a:pt x="3375" y="13129"/>
                </a:cubicBezTo>
                <a:cubicBezTo>
                  <a:pt x="3713" y="13129"/>
                  <a:pt x="4050" y="13129"/>
                  <a:pt x="4388" y="13129"/>
                </a:cubicBezTo>
                <a:cubicBezTo>
                  <a:pt x="2363" y="12282"/>
                  <a:pt x="1013" y="10165"/>
                  <a:pt x="1013" y="7624"/>
                </a:cubicBezTo>
                <a:cubicBezTo>
                  <a:pt x="1013" y="7624"/>
                  <a:pt x="1013" y="7624"/>
                  <a:pt x="1013" y="7624"/>
                </a:cubicBezTo>
                <a:cubicBezTo>
                  <a:pt x="1688" y="8047"/>
                  <a:pt x="2363" y="8047"/>
                  <a:pt x="3038" y="8047"/>
                </a:cubicBezTo>
                <a:cubicBezTo>
                  <a:pt x="1688" y="7200"/>
                  <a:pt x="1013" y="5506"/>
                  <a:pt x="1013" y="3812"/>
                </a:cubicBezTo>
                <a:cubicBezTo>
                  <a:pt x="1013" y="2541"/>
                  <a:pt x="1350" y="1694"/>
                  <a:pt x="1688" y="847"/>
                </a:cubicBezTo>
                <a:cubicBezTo>
                  <a:pt x="3713" y="4235"/>
                  <a:pt x="7088" y="6353"/>
                  <a:pt x="10463" y="6776"/>
                </a:cubicBezTo>
                <a:cubicBezTo>
                  <a:pt x="10463" y="6353"/>
                  <a:pt x="10463" y="5929"/>
                  <a:pt x="10463" y="5506"/>
                </a:cubicBezTo>
                <a:cubicBezTo>
                  <a:pt x="10463" y="2118"/>
                  <a:pt x="12487" y="0"/>
                  <a:pt x="14850" y="0"/>
                </a:cubicBezTo>
                <a:cubicBezTo>
                  <a:pt x="16200" y="0"/>
                  <a:pt x="17212" y="424"/>
                  <a:pt x="18225" y="1694"/>
                </a:cubicBezTo>
                <a:cubicBezTo>
                  <a:pt x="18900" y="1271"/>
                  <a:pt x="19912" y="847"/>
                  <a:pt x="20925" y="424"/>
                </a:cubicBezTo>
                <a:cubicBezTo>
                  <a:pt x="20587" y="1694"/>
                  <a:pt x="19912" y="2541"/>
                  <a:pt x="18900" y="3388"/>
                </a:cubicBezTo>
                <a:cubicBezTo>
                  <a:pt x="19912" y="2965"/>
                  <a:pt x="20587" y="2965"/>
                  <a:pt x="21600" y="2541"/>
                </a:cubicBezTo>
                <a:cubicBezTo>
                  <a:pt x="20925" y="3388"/>
                  <a:pt x="20250" y="4659"/>
                  <a:pt x="19237" y="5082"/>
                </a:cubicBezTo>
                <a:close/>
              </a:path>
            </a:pathLst>
          </a:custGeom>
          <a:solidFill>
            <a:srgbClr val="555555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4" name="Shape 44"/>
          <p:cNvSpPr/>
          <p:nvPr/>
        </p:nvSpPr>
        <p:spPr>
          <a:xfrm>
            <a:off x="793251" y="8157735"/>
            <a:ext cx="149394" cy="285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3546"/>
                </a:moveTo>
                <a:cubicBezTo>
                  <a:pt x="17897" y="3546"/>
                  <a:pt x="17897" y="3546"/>
                  <a:pt x="17897" y="3546"/>
                </a:cubicBezTo>
                <a:cubicBezTo>
                  <a:pt x="14811" y="3546"/>
                  <a:pt x="14194" y="4513"/>
                  <a:pt x="14194" y="5481"/>
                </a:cubicBezTo>
                <a:cubicBezTo>
                  <a:pt x="14194" y="8060"/>
                  <a:pt x="14194" y="8060"/>
                  <a:pt x="14194" y="8060"/>
                </a:cubicBezTo>
                <a:cubicBezTo>
                  <a:pt x="21600" y="8060"/>
                  <a:pt x="21600" y="8060"/>
                  <a:pt x="21600" y="8060"/>
                </a:cubicBezTo>
                <a:cubicBezTo>
                  <a:pt x="20366" y="11928"/>
                  <a:pt x="20366" y="11928"/>
                  <a:pt x="20366" y="11928"/>
                </a:cubicBezTo>
                <a:cubicBezTo>
                  <a:pt x="14194" y="11928"/>
                  <a:pt x="14194" y="11928"/>
                  <a:pt x="14194" y="11928"/>
                </a:cubicBezTo>
                <a:cubicBezTo>
                  <a:pt x="14194" y="21600"/>
                  <a:pt x="14194" y="21600"/>
                  <a:pt x="14194" y="21600"/>
                </a:cubicBezTo>
                <a:cubicBezTo>
                  <a:pt x="6789" y="21600"/>
                  <a:pt x="6789" y="21600"/>
                  <a:pt x="6789" y="21600"/>
                </a:cubicBezTo>
                <a:cubicBezTo>
                  <a:pt x="6789" y="11928"/>
                  <a:pt x="6789" y="11928"/>
                  <a:pt x="6789" y="11928"/>
                </a:cubicBezTo>
                <a:cubicBezTo>
                  <a:pt x="0" y="11928"/>
                  <a:pt x="0" y="11928"/>
                  <a:pt x="0" y="11928"/>
                </a:cubicBezTo>
                <a:cubicBezTo>
                  <a:pt x="0" y="8060"/>
                  <a:pt x="0" y="8060"/>
                  <a:pt x="0" y="8060"/>
                </a:cubicBezTo>
                <a:cubicBezTo>
                  <a:pt x="6789" y="8060"/>
                  <a:pt x="6789" y="8060"/>
                  <a:pt x="6789" y="8060"/>
                </a:cubicBezTo>
                <a:cubicBezTo>
                  <a:pt x="6789" y="5158"/>
                  <a:pt x="6789" y="5158"/>
                  <a:pt x="6789" y="5158"/>
                </a:cubicBezTo>
                <a:cubicBezTo>
                  <a:pt x="6789" y="1934"/>
                  <a:pt x="10491" y="0"/>
                  <a:pt x="16046" y="0"/>
                </a:cubicBezTo>
                <a:cubicBezTo>
                  <a:pt x="18514" y="0"/>
                  <a:pt x="20983" y="322"/>
                  <a:pt x="21600" y="322"/>
                </a:cubicBezTo>
                <a:lnTo>
                  <a:pt x="21600" y="3546"/>
                </a:lnTo>
                <a:close/>
              </a:path>
            </a:pathLst>
          </a:custGeom>
          <a:solidFill>
            <a:srgbClr val="555555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" name="Shape 45"/>
          <p:cNvSpPr/>
          <p:nvPr/>
        </p:nvSpPr>
        <p:spPr>
          <a:xfrm>
            <a:off x="783552" y="6488190"/>
            <a:ext cx="168792" cy="2669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8900" y="1029"/>
                  <a:pt x="18900" y="1029"/>
                  <a:pt x="18900" y="1029"/>
                </a:cubicBezTo>
                <a:cubicBezTo>
                  <a:pt x="16200" y="1029"/>
                  <a:pt x="16200" y="1029"/>
                  <a:pt x="16200" y="1029"/>
                </a:cubicBezTo>
                <a:cubicBezTo>
                  <a:pt x="17820" y="2057"/>
                  <a:pt x="19440" y="3086"/>
                  <a:pt x="19440" y="4800"/>
                </a:cubicBezTo>
                <a:cubicBezTo>
                  <a:pt x="19440" y="8229"/>
                  <a:pt x="14580" y="8571"/>
                  <a:pt x="14580" y="10286"/>
                </a:cubicBezTo>
                <a:cubicBezTo>
                  <a:pt x="14580" y="12000"/>
                  <a:pt x="20520" y="12686"/>
                  <a:pt x="20520" y="16114"/>
                </a:cubicBezTo>
                <a:cubicBezTo>
                  <a:pt x="20520" y="17143"/>
                  <a:pt x="20520" y="17829"/>
                  <a:pt x="19980" y="18514"/>
                </a:cubicBezTo>
                <a:cubicBezTo>
                  <a:pt x="17820" y="20914"/>
                  <a:pt x="12960" y="21600"/>
                  <a:pt x="9180" y="21600"/>
                </a:cubicBezTo>
                <a:cubicBezTo>
                  <a:pt x="6480" y="21600"/>
                  <a:pt x="2700" y="20914"/>
                  <a:pt x="540" y="19200"/>
                </a:cubicBezTo>
                <a:cubicBezTo>
                  <a:pt x="0" y="18857"/>
                  <a:pt x="0" y="18171"/>
                  <a:pt x="0" y="17486"/>
                </a:cubicBezTo>
                <a:cubicBezTo>
                  <a:pt x="0" y="16114"/>
                  <a:pt x="1620" y="14743"/>
                  <a:pt x="3240" y="14057"/>
                </a:cubicBezTo>
                <a:cubicBezTo>
                  <a:pt x="5940" y="13029"/>
                  <a:pt x="8640" y="13029"/>
                  <a:pt x="11340" y="12686"/>
                </a:cubicBezTo>
                <a:cubicBezTo>
                  <a:pt x="10800" y="12000"/>
                  <a:pt x="10260" y="11657"/>
                  <a:pt x="10260" y="10971"/>
                </a:cubicBezTo>
                <a:cubicBezTo>
                  <a:pt x="10260" y="10286"/>
                  <a:pt x="10260" y="9943"/>
                  <a:pt x="10800" y="9600"/>
                </a:cubicBezTo>
                <a:cubicBezTo>
                  <a:pt x="10260" y="9943"/>
                  <a:pt x="9720" y="9943"/>
                  <a:pt x="9180" y="9943"/>
                </a:cubicBezTo>
                <a:cubicBezTo>
                  <a:pt x="5400" y="9943"/>
                  <a:pt x="2160" y="7886"/>
                  <a:pt x="2160" y="5486"/>
                </a:cubicBezTo>
                <a:cubicBezTo>
                  <a:pt x="2160" y="3771"/>
                  <a:pt x="3240" y="2400"/>
                  <a:pt x="4860" y="1714"/>
                </a:cubicBezTo>
                <a:cubicBezTo>
                  <a:pt x="7020" y="343"/>
                  <a:pt x="10260" y="0"/>
                  <a:pt x="12960" y="0"/>
                </a:cubicBezTo>
                <a:lnTo>
                  <a:pt x="21600" y="0"/>
                </a:lnTo>
                <a:close/>
                <a:moveTo>
                  <a:pt x="12960" y="13714"/>
                </a:moveTo>
                <a:cubicBezTo>
                  <a:pt x="12960" y="13714"/>
                  <a:pt x="12420" y="13714"/>
                  <a:pt x="11880" y="13714"/>
                </a:cubicBezTo>
                <a:cubicBezTo>
                  <a:pt x="8640" y="13714"/>
                  <a:pt x="3780" y="14400"/>
                  <a:pt x="3780" y="16800"/>
                </a:cubicBezTo>
                <a:cubicBezTo>
                  <a:pt x="3780" y="19543"/>
                  <a:pt x="8100" y="20229"/>
                  <a:pt x="11340" y="20229"/>
                </a:cubicBezTo>
                <a:cubicBezTo>
                  <a:pt x="14580" y="20229"/>
                  <a:pt x="17820" y="19543"/>
                  <a:pt x="17820" y="17486"/>
                </a:cubicBezTo>
                <a:cubicBezTo>
                  <a:pt x="17820" y="15429"/>
                  <a:pt x="15120" y="14400"/>
                  <a:pt x="12960" y="13714"/>
                </a:cubicBezTo>
                <a:close/>
                <a:moveTo>
                  <a:pt x="9720" y="1029"/>
                </a:moveTo>
                <a:cubicBezTo>
                  <a:pt x="8640" y="1029"/>
                  <a:pt x="7560" y="1371"/>
                  <a:pt x="7020" y="2057"/>
                </a:cubicBezTo>
                <a:cubicBezTo>
                  <a:pt x="5940" y="2400"/>
                  <a:pt x="5940" y="3086"/>
                  <a:pt x="5940" y="4114"/>
                </a:cubicBezTo>
                <a:cubicBezTo>
                  <a:pt x="5940" y="5829"/>
                  <a:pt x="7560" y="8914"/>
                  <a:pt x="11340" y="8914"/>
                </a:cubicBezTo>
                <a:cubicBezTo>
                  <a:pt x="12420" y="8914"/>
                  <a:pt x="13500" y="8571"/>
                  <a:pt x="14580" y="8229"/>
                </a:cubicBezTo>
                <a:cubicBezTo>
                  <a:pt x="15120" y="7543"/>
                  <a:pt x="15660" y="6857"/>
                  <a:pt x="15660" y="6171"/>
                </a:cubicBezTo>
                <a:cubicBezTo>
                  <a:pt x="15660" y="4114"/>
                  <a:pt x="13500" y="1029"/>
                  <a:pt x="9720" y="1029"/>
                </a:cubicBezTo>
                <a:close/>
              </a:path>
            </a:pathLst>
          </a:custGeom>
          <a:solidFill>
            <a:srgbClr val="555555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6" name="Shape 46"/>
          <p:cNvSpPr/>
          <p:nvPr/>
        </p:nvSpPr>
        <p:spPr>
          <a:xfrm>
            <a:off x="723691" y="5678332"/>
            <a:ext cx="288514" cy="208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2" y="18073"/>
                </a:moveTo>
                <a:cubicBezTo>
                  <a:pt x="20965" y="19837"/>
                  <a:pt x="20012" y="21159"/>
                  <a:pt x="18741" y="21159"/>
                </a:cubicBezTo>
                <a:cubicBezTo>
                  <a:pt x="16200" y="21600"/>
                  <a:pt x="13341" y="21600"/>
                  <a:pt x="10800" y="21600"/>
                </a:cubicBezTo>
                <a:cubicBezTo>
                  <a:pt x="7941" y="21600"/>
                  <a:pt x="5400" y="21600"/>
                  <a:pt x="2541" y="21159"/>
                </a:cubicBezTo>
                <a:cubicBezTo>
                  <a:pt x="1588" y="21159"/>
                  <a:pt x="635" y="19837"/>
                  <a:pt x="318" y="18073"/>
                </a:cubicBezTo>
                <a:cubicBezTo>
                  <a:pt x="0" y="15869"/>
                  <a:pt x="0" y="13224"/>
                  <a:pt x="0" y="11020"/>
                </a:cubicBezTo>
                <a:cubicBezTo>
                  <a:pt x="0" y="8376"/>
                  <a:pt x="0" y="6171"/>
                  <a:pt x="318" y="3527"/>
                </a:cubicBezTo>
                <a:cubicBezTo>
                  <a:pt x="635" y="2204"/>
                  <a:pt x="1588" y="882"/>
                  <a:pt x="2541" y="441"/>
                </a:cubicBezTo>
                <a:cubicBezTo>
                  <a:pt x="5400" y="0"/>
                  <a:pt x="7941" y="0"/>
                  <a:pt x="10800" y="0"/>
                </a:cubicBezTo>
                <a:cubicBezTo>
                  <a:pt x="13341" y="0"/>
                  <a:pt x="16200" y="0"/>
                  <a:pt x="18741" y="441"/>
                </a:cubicBezTo>
                <a:cubicBezTo>
                  <a:pt x="20012" y="882"/>
                  <a:pt x="20965" y="2204"/>
                  <a:pt x="21282" y="3527"/>
                </a:cubicBezTo>
                <a:cubicBezTo>
                  <a:pt x="21600" y="6171"/>
                  <a:pt x="21600" y="8376"/>
                  <a:pt x="21600" y="11020"/>
                </a:cubicBezTo>
                <a:cubicBezTo>
                  <a:pt x="21600" y="13224"/>
                  <a:pt x="21600" y="15869"/>
                  <a:pt x="21282" y="18073"/>
                </a:cubicBezTo>
                <a:close/>
                <a:moveTo>
                  <a:pt x="14929" y="10139"/>
                </a:moveTo>
                <a:cubicBezTo>
                  <a:pt x="8894" y="4849"/>
                  <a:pt x="8894" y="4849"/>
                  <a:pt x="8894" y="4849"/>
                </a:cubicBezTo>
                <a:cubicBezTo>
                  <a:pt x="8576" y="4408"/>
                  <a:pt x="8259" y="4408"/>
                  <a:pt x="7941" y="4408"/>
                </a:cubicBezTo>
                <a:cubicBezTo>
                  <a:pt x="7941" y="4849"/>
                  <a:pt x="7624" y="5290"/>
                  <a:pt x="7624" y="5731"/>
                </a:cubicBezTo>
                <a:cubicBezTo>
                  <a:pt x="7624" y="16310"/>
                  <a:pt x="7624" y="16310"/>
                  <a:pt x="7624" y="16310"/>
                </a:cubicBezTo>
                <a:cubicBezTo>
                  <a:pt x="7624" y="16751"/>
                  <a:pt x="7941" y="17192"/>
                  <a:pt x="7941" y="17192"/>
                </a:cubicBezTo>
                <a:cubicBezTo>
                  <a:pt x="8259" y="17192"/>
                  <a:pt x="8259" y="17192"/>
                  <a:pt x="8259" y="17192"/>
                </a:cubicBezTo>
                <a:cubicBezTo>
                  <a:pt x="8576" y="17192"/>
                  <a:pt x="8576" y="17192"/>
                  <a:pt x="8894" y="17192"/>
                </a:cubicBezTo>
                <a:cubicBezTo>
                  <a:pt x="14929" y="11902"/>
                  <a:pt x="14929" y="11902"/>
                  <a:pt x="14929" y="11902"/>
                </a:cubicBezTo>
                <a:cubicBezTo>
                  <a:pt x="15247" y="11461"/>
                  <a:pt x="15247" y="11461"/>
                  <a:pt x="15247" y="11020"/>
                </a:cubicBezTo>
                <a:cubicBezTo>
                  <a:pt x="15247" y="10580"/>
                  <a:pt x="15247" y="10139"/>
                  <a:pt x="14929" y="10139"/>
                </a:cubicBezTo>
                <a:close/>
              </a:path>
            </a:pathLst>
          </a:custGeom>
          <a:solidFill>
            <a:srgbClr val="555555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7" name="Shape 47"/>
          <p:cNvSpPr/>
          <p:nvPr/>
        </p:nvSpPr>
        <p:spPr>
          <a:xfrm rot="16200000">
            <a:off x="-908727" y="10932570"/>
            <a:ext cx="3553350" cy="5715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>
                <a:solidFill>
                  <a:srgbClr val="C1C0BE"/>
                </a:solidFill>
              </a:rPr>
              <a:t>Marketing</a:t>
            </a:r>
            <a:r>
              <a:t>   </a:t>
            </a:r>
            <a:r>
              <a:rPr>
                <a:solidFill>
                  <a:srgbClr val="C7A57F"/>
                </a:solidFill>
              </a:rPr>
              <a:t>/</a:t>
            </a:r>
            <a:r>
              <a:t>  </a:t>
            </a:r>
            <a:r>
              <a:rPr>
                <a:solidFill>
                  <a:srgbClr val="C1C0BE"/>
                </a:solidFill>
              </a:rPr>
              <a:t> Report</a:t>
            </a:r>
          </a:p>
        </p:txBody>
      </p:sp>
      <p:sp>
        <p:nvSpPr>
          <p:cNvPr id="48" name="Shape 48"/>
          <p:cNvSpPr/>
          <p:nvPr/>
        </p:nvSpPr>
        <p:spPr>
          <a:xfrm flipV="1">
            <a:off x="867947" y="1655053"/>
            <a:ext cx="1" cy="3425557"/>
          </a:xfrm>
          <a:prstGeom prst="line">
            <a:avLst/>
          </a:prstGeom>
          <a:ln w="127000">
            <a:solidFill>
              <a:srgbClr val="2C2C2C"/>
            </a:solidFill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485720" y="4229750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1"/>
          </p:nvPr>
        </p:nvSpPr>
        <p:spPr>
          <a:xfrm>
            <a:off x="8552035" y="4229750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12"/>
          </p:nvPr>
        </p:nvSpPr>
        <p:spPr>
          <a:xfrm>
            <a:off x="11618350" y="4229750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Рисунок 2"/>
          <p:cNvSpPr>
            <a:spLocks noGrp="1"/>
          </p:cNvSpPr>
          <p:nvPr>
            <p:ph type="pic" sz="quarter" idx="13"/>
          </p:nvPr>
        </p:nvSpPr>
        <p:spPr>
          <a:xfrm>
            <a:off x="14684665" y="4229750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4"/>
          </p:nvPr>
        </p:nvSpPr>
        <p:spPr>
          <a:xfrm>
            <a:off x="17750979" y="4208694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5"/>
          </p:nvPr>
        </p:nvSpPr>
        <p:spPr>
          <a:xfrm>
            <a:off x="5485720" y="7267218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6"/>
          </p:nvPr>
        </p:nvSpPr>
        <p:spPr>
          <a:xfrm>
            <a:off x="8552035" y="7267218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7"/>
          </p:nvPr>
        </p:nvSpPr>
        <p:spPr>
          <a:xfrm>
            <a:off x="11618350" y="7267218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Рисунок 2"/>
          <p:cNvSpPr>
            <a:spLocks noGrp="1"/>
          </p:cNvSpPr>
          <p:nvPr>
            <p:ph type="pic" sz="quarter" idx="18"/>
          </p:nvPr>
        </p:nvSpPr>
        <p:spPr>
          <a:xfrm>
            <a:off x="14684665" y="7267218"/>
            <a:ext cx="2352675" cy="23510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19"/>
          </p:nvPr>
        </p:nvSpPr>
        <p:spPr>
          <a:xfrm>
            <a:off x="17750979" y="7246162"/>
            <a:ext cx="2352675" cy="2351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907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40B24-1663-4673-8EA1-B9AF929FD0D6}" type="datetimeFigureOut">
              <a:rPr lang="ko-KR" altLang="en-US" smtClean="0"/>
              <a:t>2021-06-19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600649" y="12233456"/>
            <a:ext cx="607908" cy="355601"/>
          </a:xfrm>
          <a:prstGeom prst="rect">
            <a:avLst/>
          </a:prstGeom>
        </p:spPr>
        <p:txBody>
          <a:bodyPr/>
          <a:lstStyle/>
          <a:p>
            <a:fld id="{9D42E3BE-6CBD-47C7-9A7F-DB6BE38A1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21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2021-06-19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0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0640" y="1720614"/>
            <a:ext cx="16482720" cy="217683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02735" y="4630044"/>
            <a:ext cx="21178529" cy="70192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1" u="none" strike="noStrike" cap="none" spc="0" baseline="0">
          <a:ln>
            <a:noFill/>
          </a:ln>
          <a:solidFill>
            <a:srgbClr val="000000"/>
          </a:solidFill>
          <a:uFillTx/>
          <a:latin typeface="Playfair Display Black"/>
          <a:ea typeface="Playfair Display Black"/>
          <a:cs typeface="Playfair Display Black"/>
          <a:sym typeface="Playfair Display Black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1pPr>
      <a:lvl2pPr marL="0" marR="0" indent="228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2pPr>
      <a:lvl3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3pPr>
      <a:lvl4pPr marL="0" marR="0" indent="685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4pPr>
      <a:lvl5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5pPr>
      <a:lvl6pPr marL="0" marR="0" indent="1143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6pPr>
      <a:lvl7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7pPr>
      <a:lvl8pPr marL="0" marR="0" indent="1600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8pPr>
      <a:lvl9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ln>
            <a:noFill/>
          </a:ln>
          <a:solidFill>
            <a:srgbClr val="939393"/>
          </a:solidFill>
          <a:uFillTx/>
          <a:latin typeface="PT Sans"/>
          <a:ea typeface="PT Sans"/>
          <a:cs typeface="PT Sans"/>
          <a:sym typeface="PT Sans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all" spc="36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24.png"/><Relationship Id="rId18" Type="http://schemas.openxmlformats.org/officeDocument/2006/relationships/image" Target="../media/image27.png"/><Relationship Id="rId3" Type="http://schemas.microsoft.com/office/2007/relationships/hdphoto" Target="../media/hdphoto1.wdp"/><Relationship Id="rId21" Type="http://schemas.openxmlformats.org/officeDocument/2006/relationships/image" Target="../media/image30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17" Type="http://schemas.microsoft.com/office/2007/relationships/hdphoto" Target="../media/hdphoto5.wdp"/><Relationship Id="rId2" Type="http://schemas.openxmlformats.org/officeDocument/2006/relationships/image" Target="../media/image16.png"/><Relationship Id="rId16" Type="http://schemas.openxmlformats.org/officeDocument/2006/relationships/image" Target="../media/image26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24" Type="http://schemas.openxmlformats.org/officeDocument/2006/relationships/image" Target="../media/image33.png"/><Relationship Id="rId5" Type="http://schemas.microsoft.com/office/2007/relationships/hdphoto" Target="../media/hdphoto2.wdp"/><Relationship Id="rId15" Type="http://schemas.microsoft.com/office/2007/relationships/hdphoto" Target="../media/hdphoto4.wdp"/><Relationship Id="rId23" Type="http://schemas.openxmlformats.org/officeDocument/2006/relationships/image" Target="../media/image32.png"/><Relationship Id="rId10" Type="http://schemas.openxmlformats.org/officeDocument/2006/relationships/image" Target="../media/image21.png"/><Relationship Id="rId19" Type="http://schemas.openxmlformats.org/officeDocument/2006/relationships/image" Target="../media/image2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microsoft.com/office/2007/relationships/hdphoto" Target="../media/hdphoto6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-12232257" y="10945806"/>
            <a:ext cx="36616257" cy="57778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algn="ctr">
              <a:defRPr sz="25000" b="1">
                <a:solidFill>
                  <a:srgbClr val="F0F0F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lang="en-US" dirty="0"/>
              <a:t>JOONGGO MARKET</a:t>
            </a:r>
            <a:endParaRPr dirty="0"/>
          </a:p>
        </p:txBody>
      </p:sp>
      <p:sp>
        <p:nvSpPr>
          <p:cNvPr id="53" name="Shape 53"/>
          <p:cNvSpPr/>
          <p:nvPr/>
        </p:nvSpPr>
        <p:spPr>
          <a:xfrm>
            <a:off x="6954187" y="4680761"/>
            <a:ext cx="10475625" cy="180049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pPr>
            <a:r>
              <a:rPr lang="en-US" dirty="0"/>
              <a:t>ORANGE MARKET</a:t>
            </a:r>
            <a:endParaRPr dirty="0"/>
          </a:p>
        </p:txBody>
      </p:sp>
      <p:sp>
        <p:nvSpPr>
          <p:cNvPr id="54" name="Shape 54"/>
          <p:cNvSpPr/>
          <p:nvPr/>
        </p:nvSpPr>
        <p:spPr>
          <a:xfrm>
            <a:off x="8444584" y="3976065"/>
            <a:ext cx="7545131" cy="507831"/>
          </a:xfrm>
          <a:prstGeom prst="rect">
            <a:avLst/>
          </a:prstGeom>
          <a:noFill/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81818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Used.DEAL.WEB.APPLICATION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endParaRPr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5" name="Shape 55"/>
          <p:cNvSpPr/>
          <p:nvPr/>
        </p:nvSpPr>
        <p:spPr>
          <a:xfrm>
            <a:off x="11157392" y="8264056"/>
            <a:ext cx="868654" cy="868653"/>
          </a:xfrm>
          <a:prstGeom prst="ellipse">
            <a:avLst/>
          </a:prstGeom>
          <a:solidFill>
            <a:srgbClr val="BEBEBE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6" name="Shape 56"/>
          <p:cNvSpPr/>
          <p:nvPr/>
        </p:nvSpPr>
        <p:spPr>
          <a:xfrm>
            <a:off x="11344123" y="8501023"/>
            <a:ext cx="495193" cy="394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38" y="5082"/>
                </a:moveTo>
                <a:cubicBezTo>
                  <a:pt x="19238" y="5506"/>
                  <a:pt x="19238" y="5929"/>
                  <a:pt x="19238" y="5929"/>
                </a:cubicBezTo>
                <a:cubicBezTo>
                  <a:pt x="19238" y="13129"/>
                  <a:pt x="14850" y="21600"/>
                  <a:pt x="6750" y="21600"/>
                </a:cubicBezTo>
                <a:cubicBezTo>
                  <a:pt x="4387" y="21600"/>
                  <a:pt x="2025" y="20753"/>
                  <a:pt x="0" y="19059"/>
                </a:cubicBezTo>
                <a:cubicBezTo>
                  <a:pt x="337" y="19059"/>
                  <a:pt x="675" y="19059"/>
                  <a:pt x="1012" y="19059"/>
                </a:cubicBezTo>
                <a:cubicBezTo>
                  <a:pt x="3037" y="19059"/>
                  <a:pt x="5062" y="18212"/>
                  <a:pt x="6412" y="16941"/>
                </a:cubicBezTo>
                <a:cubicBezTo>
                  <a:pt x="4725" y="16941"/>
                  <a:pt x="3037" y="15247"/>
                  <a:pt x="2362" y="13129"/>
                </a:cubicBezTo>
                <a:cubicBezTo>
                  <a:pt x="2700" y="13129"/>
                  <a:pt x="3037" y="13129"/>
                  <a:pt x="3375" y="13129"/>
                </a:cubicBezTo>
                <a:cubicBezTo>
                  <a:pt x="3712" y="13129"/>
                  <a:pt x="4050" y="13129"/>
                  <a:pt x="4387" y="13129"/>
                </a:cubicBezTo>
                <a:cubicBezTo>
                  <a:pt x="2362" y="12282"/>
                  <a:pt x="1012" y="10165"/>
                  <a:pt x="1012" y="7624"/>
                </a:cubicBezTo>
                <a:cubicBezTo>
                  <a:pt x="1012" y="7624"/>
                  <a:pt x="1012" y="7624"/>
                  <a:pt x="1012" y="7624"/>
                </a:cubicBezTo>
                <a:cubicBezTo>
                  <a:pt x="1687" y="8047"/>
                  <a:pt x="2362" y="8047"/>
                  <a:pt x="3037" y="8047"/>
                </a:cubicBezTo>
                <a:cubicBezTo>
                  <a:pt x="1687" y="7200"/>
                  <a:pt x="1012" y="5506"/>
                  <a:pt x="1012" y="3812"/>
                </a:cubicBezTo>
                <a:cubicBezTo>
                  <a:pt x="1012" y="2541"/>
                  <a:pt x="1350" y="1694"/>
                  <a:pt x="1687" y="847"/>
                </a:cubicBezTo>
                <a:cubicBezTo>
                  <a:pt x="3712" y="4235"/>
                  <a:pt x="7087" y="6353"/>
                  <a:pt x="10462" y="6776"/>
                </a:cubicBezTo>
                <a:cubicBezTo>
                  <a:pt x="10462" y="6353"/>
                  <a:pt x="10462" y="5929"/>
                  <a:pt x="10462" y="5506"/>
                </a:cubicBezTo>
                <a:cubicBezTo>
                  <a:pt x="10462" y="2118"/>
                  <a:pt x="12488" y="0"/>
                  <a:pt x="14850" y="0"/>
                </a:cubicBezTo>
                <a:cubicBezTo>
                  <a:pt x="16200" y="0"/>
                  <a:pt x="17213" y="424"/>
                  <a:pt x="18225" y="1694"/>
                </a:cubicBezTo>
                <a:cubicBezTo>
                  <a:pt x="18900" y="1271"/>
                  <a:pt x="19913" y="847"/>
                  <a:pt x="20925" y="424"/>
                </a:cubicBezTo>
                <a:cubicBezTo>
                  <a:pt x="20588" y="1694"/>
                  <a:pt x="19913" y="2541"/>
                  <a:pt x="18900" y="3388"/>
                </a:cubicBezTo>
                <a:cubicBezTo>
                  <a:pt x="19913" y="2965"/>
                  <a:pt x="20588" y="2965"/>
                  <a:pt x="21600" y="2541"/>
                </a:cubicBezTo>
                <a:cubicBezTo>
                  <a:pt x="20925" y="3388"/>
                  <a:pt x="20250" y="4659"/>
                  <a:pt x="19238" y="5082"/>
                </a:cubicBezTo>
                <a:close/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9931431" y="8264056"/>
            <a:ext cx="868654" cy="868653"/>
          </a:xfrm>
          <a:prstGeom prst="ellipse">
            <a:avLst/>
          </a:prstGeom>
          <a:solidFill>
            <a:srgbClr val="BEBEBE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8" name="Shape 58"/>
          <p:cNvSpPr/>
          <p:nvPr/>
        </p:nvSpPr>
        <p:spPr>
          <a:xfrm>
            <a:off x="10229400" y="8438227"/>
            <a:ext cx="272715" cy="520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3546"/>
                </a:moveTo>
                <a:cubicBezTo>
                  <a:pt x="17897" y="3546"/>
                  <a:pt x="17897" y="3546"/>
                  <a:pt x="17897" y="3546"/>
                </a:cubicBezTo>
                <a:cubicBezTo>
                  <a:pt x="14811" y="3546"/>
                  <a:pt x="14194" y="4513"/>
                  <a:pt x="14194" y="5481"/>
                </a:cubicBezTo>
                <a:cubicBezTo>
                  <a:pt x="14194" y="8060"/>
                  <a:pt x="14194" y="8060"/>
                  <a:pt x="14194" y="8060"/>
                </a:cubicBezTo>
                <a:cubicBezTo>
                  <a:pt x="21600" y="8060"/>
                  <a:pt x="21600" y="8060"/>
                  <a:pt x="21600" y="8060"/>
                </a:cubicBezTo>
                <a:cubicBezTo>
                  <a:pt x="20366" y="11928"/>
                  <a:pt x="20366" y="11928"/>
                  <a:pt x="20366" y="11928"/>
                </a:cubicBezTo>
                <a:cubicBezTo>
                  <a:pt x="14194" y="11928"/>
                  <a:pt x="14194" y="11928"/>
                  <a:pt x="14194" y="11928"/>
                </a:cubicBezTo>
                <a:cubicBezTo>
                  <a:pt x="14194" y="21600"/>
                  <a:pt x="14194" y="21600"/>
                  <a:pt x="14194" y="21600"/>
                </a:cubicBezTo>
                <a:cubicBezTo>
                  <a:pt x="6789" y="21600"/>
                  <a:pt x="6789" y="21600"/>
                  <a:pt x="6789" y="21600"/>
                </a:cubicBezTo>
                <a:cubicBezTo>
                  <a:pt x="6789" y="11928"/>
                  <a:pt x="6789" y="11928"/>
                  <a:pt x="6789" y="11928"/>
                </a:cubicBezTo>
                <a:cubicBezTo>
                  <a:pt x="0" y="11928"/>
                  <a:pt x="0" y="11928"/>
                  <a:pt x="0" y="11928"/>
                </a:cubicBezTo>
                <a:cubicBezTo>
                  <a:pt x="0" y="8060"/>
                  <a:pt x="0" y="8060"/>
                  <a:pt x="0" y="8060"/>
                </a:cubicBezTo>
                <a:cubicBezTo>
                  <a:pt x="6789" y="8060"/>
                  <a:pt x="6789" y="8060"/>
                  <a:pt x="6789" y="8060"/>
                </a:cubicBezTo>
                <a:cubicBezTo>
                  <a:pt x="6789" y="5158"/>
                  <a:pt x="6789" y="5158"/>
                  <a:pt x="6789" y="5158"/>
                </a:cubicBezTo>
                <a:cubicBezTo>
                  <a:pt x="6789" y="1934"/>
                  <a:pt x="10491" y="0"/>
                  <a:pt x="16046" y="0"/>
                </a:cubicBezTo>
                <a:cubicBezTo>
                  <a:pt x="18514" y="0"/>
                  <a:pt x="20983" y="322"/>
                  <a:pt x="21600" y="322"/>
                </a:cubicBezTo>
                <a:lnTo>
                  <a:pt x="21600" y="3546"/>
                </a:lnTo>
                <a:close/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9" name="Shape 59"/>
          <p:cNvSpPr/>
          <p:nvPr/>
        </p:nvSpPr>
        <p:spPr>
          <a:xfrm>
            <a:off x="12383354" y="8264056"/>
            <a:ext cx="868653" cy="868653"/>
          </a:xfrm>
          <a:prstGeom prst="ellipse">
            <a:avLst/>
          </a:prstGeom>
          <a:solidFill>
            <a:srgbClr val="BEBEBE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0" name="Shape 60"/>
          <p:cNvSpPr/>
          <p:nvPr/>
        </p:nvSpPr>
        <p:spPr>
          <a:xfrm>
            <a:off x="12663617" y="8454749"/>
            <a:ext cx="308125" cy="4872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8900" y="1029"/>
                  <a:pt x="18900" y="1029"/>
                  <a:pt x="18900" y="1029"/>
                </a:cubicBezTo>
                <a:cubicBezTo>
                  <a:pt x="16200" y="1029"/>
                  <a:pt x="16200" y="1029"/>
                  <a:pt x="16200" y="1029"/>
                </a:cubicBezTo>
                <a:cubicBezTo>
                  <a:pt x="17820" y="2057"/>
                  <a:pt x="19440" y="3086"/>
                  <a:pt x="19440" y="4800"/>
                </a:cubicBezTo>
                <a:cubicBezTo>
                  <a:pt x="19440" y="8229"/>
                  <a:pt x="14580" y="8571"/>
                  <a:pt x="14580" y="10286"/>
                </a:cubicBezTo>
                <a:cubicBezTo>
                  <a:pt x="14580" y="12000"/>
                  <a:pt x="20520" y="12686"/>
                  <a:pt x="20520" y="16114"/>
                </a:cubicBezTo>
                <a:cubicBezTo>
                  <a:pt x="20520" y="17143"/>
                  <a:pt x="20520" y="17829"/>
                  <a:pt x="19980" y="18514"/>
                </a:cubicBezTo>
                <a:cubicBezTo>
                  <a:pt x="17820" y="20914"/>
                  <a:pt x="12960" y="21600"/>
                  <a:pt x="9180" y="21600"/>
                </a:cubicBezTo>
                <a:cubicBezTo>
                  <a:pt x="6480" y="21600"/>
                  <a:pt x="2700" y="20914"/>
                  <a:pt x="540" y="19200"/>
                </a:cubicBezTo>
                <a:cubicBezTo>
                  <a:pt x="0" y="18857"/>
                  <a:pt x="0" y="18171"/>
                  <a:pt x="0" y="17486"/>
                </a:cubicBezTo>
                <a:cubicBezTo>
                  <a:pt x="0" y="16114"/>
                  <a:pt x="1620" y="14743"/>
                  <a:pt x="3240" y="14057"/>
                </a:cubicBezTo>
                <a:cubicBezTo>
                  <a:pt x="5940" y="13029"/>
                  <a:pt x="8640" y="13029"/>
                  <a:pt x="11340" y="12686"/>
                </a:cubicBezTo>
                <a:cubicBezTo>
                  <a:pt x="10800" y="12000"/>
                  <a:pt x="10260" y="11657"/>
                  <a:pt x="10260" y="10971"/>
                </a:cubicBezTo>
                <a:cubicBezTo>
                  <a:pt x="10260" y="10286"/>
                  <a:pt x="10260" y="9943"/>
                  <a:pt x="10800" y="9600"/>
                </a:cubicBezTo>
                <a:cubicBezTo>
                  <a:pt x="10260" y="9943"/>
                  <a:pt x="9720" y="9943"/>
                  <a:pt x="9180" y="9943"/>
                </a:cubicBezTo>
                <a:cubicBezTo>
                  <a:pt x="5400" y="9943"/>
                  <a:pt x="2160" y="7886"/>
                  <a:pt x="2160" y="5486"/>
                </a:cubicBezTo>
                <a:cubicBezTo>
                  <a:pt x="2160" y="3771"/>
                  <a:pt x="3240" y="2400"/>
                  <a:pt x="4860" y="1714"/>
                </a:cubicBezTo>
                <a:cubicBezTo>
                  <a:pt x="7020" y="343"/>
                  <a:pt x="10260" y="0"/>
                  <a:pt x="12960" y="0"/>
                </a:cubicBezTo>
                <a:lnTo>
                  <a:pt x="21600" y="0"/>
                </a:lnTo>
                <a:close/>
                <a:moveTo>
                  <a:pt x="12960" y="13714"/>
                </a:moveTo>
                <a:cubicBezTo>
                  <a:pt x="12960" y="13714"/>
                  <a:pt x="12420" y="13714"/>
                  <a:pt x="11880" y="13714"/>
                </a:cubicBezTo>
                <a:cubicBezTo>
                  <a:pt x="8640" y="13714"/>
                  <a:pt x="3780" y="14400"/>
                  <a:pt x="3780" y="16800"/>
                </a:cubicBezTo>
                <a:cubicBezTo>
                  <a:pt x="3780" y="19543"/>
                  <a:pt x="8100" y="20229"/>
                  <a:pt x="11340" y="20229"/>
                </a:cubicBezTo>
                <a:cubicBezTo>
                  <a:pt x="14580" y="20229"/>
                  <a:pt x="17820" y="19543"/>
                  <a:pt x="17820" y="17486"/>
                </a:cubicBezTo>
                <a:cubicBezTo>
                  <a:pt x="17820" y="15429"/>
                  <a:pt x="15120" y="14400"/>
                  <a:pt x="12960" y="13714"/>
                </a:cubicBezTo>
                <a:close/>
                <a:moveTo>
                  <a:pt x="9720" y="1029"/>
                </a:moveTo>
                <a:cubicBezTo>
                  <a:pt x="8640" y="1029"/>
                  <a:pt x="7560" y="1371"/>
                  <a:pt x="7020" y="2057"/>
                </a:cubicBezTo>
                <a:cubicBezTo>
                  <a:pt x="5940" y="2400"/>
                  <a:pt x="5940" y="3086"/>
                  <a:pt x="5940" y="4114"/>
                </a:cubicBezTo>
                <a:cubicBezTo>
                  <a:pt x="5940" y="5829"/>
                  <a:pt x="7560" y="8914"/>
                  <a:pt x="11340" y="8914"/>
                </a:cubicBezTo>
                <a:cubicBezTo>
                  <a:pt x="12420" y="8914"/>
                  <a:pt x="13500" y="8571"/>
                  <a:pt x="14580" y="8229"/>
                </a:cubicBezTo>
                <a:cubicBezTo>
                  <a:pt x="15120" y="7543"/>
                  <a:pt x="15660" y="6857"/>
                  <a:pt x="15660" y="6171"/>
                </a:cubicBezTo>
                <a:cubicBezTo>
                  <a:pt x="15660" y="4114"/>
                  <a:pt x="13500" y="1029"/>
                  <a:pt x="9720" y="1029"/>
                </a:cubicBezTo>
                <a:close/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1" name="Shape 61"/>
          <p:cNvSpPr/>
          <p:nvPr/>
        </p:nvSpPr>
        <p:spPr>
          <a:xfrm>
            <a:off x="13609315" y="8264056"/>
            <a:ext cx="868653" cy="868653"/>
          </a:xfrm>
          <a:prstGeom prst="ellipse">
            <a:avLst/>
          </a:prstGeom>
          <a:solidFill>
            <a:srgbClr val="BEBEBE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2" name="Shape 62"/>
          <p:cNvSpPr/>
          <p:nvPr/>
        </p:nvSpPr>
        <p:spPr>
          <a:xfrm>
            <a:off x="13780299" y="8508492"/>
            <a:ext cx="526678" cy="379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2" y="18073"/>
                </a:moveTo>
                <a:cubicBezTo>
                  <a:pt x="20965" y="19837"/>
                  <a:pt x="20012" y="21159"/>
                  <a:pt x="18741" y="21159"/>
                </a:cubicBezTo>
                <a:cubicBezTo>
                  <a:pt x="16200" y="21600"/>
                  <a:pt x="13341" y="21600"/>
                  <a:pt x="10800" y="21600"/>
                </a:cubicBezTo>
                <a:cubicBezTo>
                  <a:pt x="7941" y="21600"/>
                  <a:pt x="5400" y="21600"/>
                  <a:pt x="2541" y="21159"/>
                </a:cubicBezTo>
                <a:cubicBezTo>
                  <a:pt x="1588" y="21159"/>
                  <a:pt x="635" y="19837"/>
                  <a:pt x="318" y="18073"/>
                </a:cubicBezTo>
                <a:cubicBezTo>
                  <a:pt x="0" y="15869"/>
                  <a:pt x="0" y="13224"/>
                  <a:pt x="0" y="11020"/>
                </a:cubicBezTo>
                <a:cubicBezTo>
                  <a:pt x="0" y="8376"/>
                  <a:pt x="0" y="6171"/>
                  <a:pt x="318" y="3527"/>
                </a:cubicBezTo>
                <a:cubicBezTo>
                  <a:pt x="635" y="2204"/>
                  <a:pt x="1588" y="882"/>
                  <a:pt x="2541" y="441"/>
                </a:cubicBezTo>
                <a:cubicBezTo>
                  <a:pt x="5400" y="0"/>
                  <a:pt x="7941" y="0"/>
                  <a:pt x="10800" y="0"/>
                </a:cubicBezTo>
                <a:cubicBezTo>
                  <a:pt x="13341" y="0"/>
                  <a:pt x="16200" y="0"/>
                  <a:pt x="18741" y="441"/>
                </a:cubicBezTo>
                <a:cubicBezTo>
                  <a:pt x="20012" y="882"/>
                  <a:pt x="20965" y="2204"/>
                  <a:pt x="21282" y="3527"/>
                </a:cubicBezTo>
                <a:cubicBezTo>
                  <a:pt x="21600" y="6171"/>
                  <a:pt x="21600" y="8376"/>
                  <a:pt x="21600" y="11020"/>
                </a:cubicBezTo>
                <a:cubicBezTo>
                  <a:pt x="21600" y="13224"/>
                  <a:pt x="21600" y="15869"/>
                  <a:pt x="21282" y="18073"/>
                </a:cubicBezTo>
                <a:close/>
                <a:moveTo>
                  <a:pt x="14929" y="10139"/>
                </a:moveTo>
                <a:cubicBezTo>
                  <a:pt x="8894" y="4849"/>
                  <a:pt x="8894" y="4849"/>
                  <a:pt x="8894" y="4849"/>
                </a:cubicBezTo>
                <a:cubicBezTo>
                  <a:pt x="8576" y="4408"/>
                  <a:pt x="8259" y="4408"/>
                  <a:pt x="7941" y="4408"/>
                </a:cubicBezTo>
                <a:cubicBezTo>
                  <a:pt x="7941" y="4849"/>
                  <a:pt x="7624" y="5290"/>
                  <a:pt x="7624" y="5731"/>
                </a:cubicBezTo>
                <a:cubicBezTo>
                  <a:pt x="7624" y="16310"/>
                  <a:pt x="7624" y="16310"/>
                  <a:pt x="7624" y="16310"/>
                </a:cubicBezTo>
                <a:cubicBezTo>
                  <a:pt x="7624" y="16751"/>
                  <a:pt x="7941" y="17192"/>
                  <a:pt x="7941" y="17192"/>
                </a:cubicBezTo>
                <a:cubicBezTo>
                  <a:pt x="8259" y="17192"/>
                  <a:pt x="8259" y="17192"/>
                  <a:pt x="8259" y="17192"/>
                </a:cubicBezTo>
                <a:cubicBezTo>
                  <a:pt x="8576" y="17192"/>
                  <a:pt x="8576" y="17192"/>
                  <a:pt x="8894" y="17192"/>
                </a:cubicBezTo>
                <a:cubicBezTo>
                  <a:pt x="14929" y="11902"/>
                  <a:pt x="14929" y="11902"/>
                  <a:pt x="14929" y="11902"/>
                </a:cubicBezTo>
                <a:cubicBezTo>
                  <a:pt x="15247" y="11461"/>
                  <a:pt x="15247" y="11461"/>
                  <a:pt x="15247" y="11020"/>
                </a:cubicBezTo>
                <a:cubicBezTo>
                  <a:pt x="15247" y="10580"/>
                  <a:pt x="15247" y="10139"/>
                  <a:pt x="14929" y="10139"/>
                </a:cubicBezTo>
                <a:close/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45719" rIns="45719"/>
          <a:lstStyle/>
          <a:p>
            <a:pPr defTabSz="457200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4" name="Shape 64"/>
          <p:cNvSpPr/>
          <p:nvPr/>
        </p:nvSpPr>
        <p:spPr>
          <a:xfrm>
            <a:off x="9988443" y="10519310"/>
            <a:ext cx="4203415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dirty="0"/>
              <a:t>More information</a:t>
            </a:r>
          </a:p>
        </p:txBody>
      </p:sp>
      <p:sp>
        <p:nvSpPr>
          <p:cNvPr id="65" name="Shape 65"/>
          <p:cNvSpPr/>
          <p:nvPr/>
        </p:nvSpPr>
        <p:spPr>
          <a:xfrm>
            <a:off x="13931766" y="10602939"/>
            <a:ext cx="99826" cy="162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10" y="0"/>
                </a:moveTo>
                <a:lnTo>
                  <a:pt x="0" y="2462"/>
                </a:lnTo>
                <a:lnTo>
                  <a:pt x="13671" y="10800"/>
                </a:lnTo>
                <a:lnTo>
                  <a:pt x="0" y="19194"/>
                </a:lnTo>
                <a:lnTo>
                  <a:pt x="4010" y="21600"/>
                </a:lnTo>
                <a:lnTo>
                  <a:pt x="21600" y="10800"/>
                </a:lnTo>
                <a:lnTo>
                  <a:pt x="4010" y="0"/>
                </a:lnTo>
              </a:path>
            </a:pathLst>
          </a:custGeom>
          <a:solidFill>
            <a:srgbClr val="FFFFFF"/>
          </a:solidFill>
          <a:ln w="3175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000000"/>
                </a:solidFill>
                <a:latin typeface="Roboto Regular"/>
                <a:ea typeface="Roboto Regular"/>
                <a:cs typeface="Roboto Regular"/>
                <a:sym typeface="Roboto Regular"/>
              </a:defRPr>
            </a:pPr>
            <a:endParaRPr/>
          </a:p>
        </p:txBody>
      </p:sp>
      <p:sp>
        <p:nvSpPr>
          <p:cNvPr id="66" name="Shape 66"/>
          <p:cNvSpPr/>
          <p:nvPr/>
        </p:nvSpPr>
        <p:spPr>
          <a:xfrm>
            <a:off x="3088255" y="-2109794"/>
            <a:ext cx="26276061" cy="57778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algn="ctr">
              <a:defRPr sz="25000" b="1">
                <a:solidFill>
                  <a:srgbClr val="F0F0F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lang="en-US" altLang="ko-KR" dirty="0"/>
              <a:t>JOONGGO MARKET</a:t>
            </a:r>
          </a:p>
        </p:txBody>
      </p:sp>
      <p:sp>
        <p:nvSpPr>
          <p:cNvPr id="17" name="Shape 63">
            <a:extLst>
              <a:ext uri="{FF2B5EF4-FFF2-40B4-BE49-F238E27FC236}">
                <a16:creationId xmlns:a16="http://schemas.microsoft.com/office/drawing/2014/main" id="{15D74B96-A47A-4DBE-887C-DA1C53B0E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9350" y="10250488"/>
            <a:ext cx="4356100" cy="868362"/>
          </a:xfrm>
          <a:prstGeom prst="roundRect">
            <a:avLst>
              <a:gd name="adj" fmla="val 50000"/>
            </a:avLst>
          </a:prstGeom>
          <a:solidFill>
            <a:srgbClr val="FF8B5F">
              <a:alpha val="80000"/>
            </a:srgbClr>
          </a:solidFill>
          <a:ln>
            <a:noFill/>
          </a:ln>
        </p:spPr>
        <p:txBody>
          <a:bodyPr lIns="38100" tIns="38100" rIns="38100" bIns="38100" anchor="ctr"/>
          <a:lstStyle/>
          <a:p>
            <a:pPr algn="ctr" eaLnBrk="1"/>
            <a:endParaRPr lang="ko-KR" altLang="ko-KR" sz="300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8" name="Shape 64">
            <a:extLst>
              <a:ext uri="{FF2B5EF4-FFF2-40B4-BE49-F238E27FC236}">
                <a16:creationId xmlns:a16="http://schemas.microsoft.com/office/drawing/2014/main" id="{95CE2317-FE70-4D1E-B998-D2378B600306}"/>
              </a:ext>
            </a:extLst>
          </p:cNvPr>
          <p:cNvSpPr/>
          <p:nvPr/>
        </p:nvSpPr>
        <p:spPr>
          <a:xfrm>
            <a:off x="9988550" y="10518775"/>
            <a:ext cx="4203700" cy="355600"/>
          </a:xfrm>
          <a:prstGeom prst="rect">
            <a:avLst/>
          </a:prstGeom>
          <a:ln w="3175">
            <a:miter lim="400000"/>
          </a:ln>
          <a:extLst>
            <a:ext uri="{C572A759-6A51-4108-AA02-DFA0A04FC94B}"/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ern="0" dirty="0"/>
              <a:t>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89149498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863009" y="672220"/>
            <a:ext cx="19623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200" b="1" dirty="0">
                <a:solidFill>
                  <a:srgbClr val="FF8B5F">
                    <a:alpha val="80000"/>
                  </a:srgbClr>
                </a:solidFill>
              </a:rPr>
              <a:t>C</a:t>
            </a:r>
            <a:endParaRPr lang="ko-KR" altLang="en-US" sz="19200" b="1" dirty="0">
              <a:solidFill>
                <a:srgbClr val="FF8B5F">
                  <a:alpha val="80000"/>
                </a:srgb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16007" y="2241880"/>
            <a:ext cx="39549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400" spc="1200" dirty="0" err="1">
                <a:solidFill>
                  <a:srgbClr val="FF8B5F">
                    <a:alpha val="80000"/>
                  </a:srgbClr>
                </a:solidFill>
              </a:rPr>
              <a:t>ontents</a:t>
            </a:r>
            <a:endParaRPr lang="ko-KR" altLang="en-US" sz="6400" spc="1200" dirty="0">
              <a:solidFill>
                <a:srgbClr val="FF8B5F">
                  <a:alpha val="80000"/>
                </a:srgb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1991876" y="4742178"/>
            <a:ext cx="5520440" cy="909022"/>
            <a:chOff x="1471799" y="2717800"/>
            <a:chExt cx="2760220" cy="454511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1471799" y="2717800"/>
              <a:ext cx="572901" cy="0"/>
            </a:xfrm>
            <a:prstGeom prst="line">
              <a:avLst/>
            </a:prstGeom>
            <a:ln w="28575">
              <a:solidFill>
                <a:srgbClr val="FF8B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133527" y="2730668"/>
              <a:ext cx="2098492" cy="41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spc="200" dirty="0">
                  <a:solidFill>
                    <a:srgbClr val="6F3508"/>
                  </a:solidFill>
                  <a:latin typeface="+mn-ea"/>
                  <a:cs typeface="Arial" panose="020B0604020202020204" pitchFamily="34" charset="0"/>
                </a:rPr>
                <a:t>프로젝트 개요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74176" y="2772201"/>
              <a:ext cx="6237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600" b="1" spc="200" dirty="0">
                  <a:solidFill>
                    <a:srgbClr val="6F3508"/>
                  </a:solidFill>
                </a:rPr>
                <a:t>001</a:t>
              </a:r>
              <a:endParaRPr lang="ko-KR" altLang="en-US" sz="4600" b="1" spc="200" dirty="0">
                <a:solidFill>
                  <a:srgbClr val="6F3508"/>
                </a:solidFill>
              </a:endParaRPr>
            </a:p>
          </p:txBody>
        </p:sp>
      </p:grpSp>
      <p:pic>
        <p:nvPicPr>
          <p:cNvPr id="3" name="그림 2" descr="실외, 하늘, 나무, 식물이(가) 표시된 사진&#10;&#10;매우 높은 신뢰도로 생성된 설명">
            <a:extLst>
              <a:ext uri="{FF2B5EF4-FFF2-40B4-BE49-F238E27FC236}">
                <a16:creationId xmlns:a16="http://schemas.microsoft.com/office/drawing/2014/main" id="{86AA45C4-FE0C-4FA8-8ACE-64C3D2109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2032" y="0"/>
            <a:ext cx="10411968" cy="1371600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634E33-ADBB-4A53-A54A-4594C26058AF}"/>
              </a:ext>
            </a:extLst>
          </p:cNvPr>
          <p:cNvGrpSpPr/>
          <p:nvPr/>
        </p:nvGrpSpPr>
        <p:grpSpPr>
          <a:xfrm>
            <a:off x="1991876" y="6727832"/>
            <a:ext cx="5520440" cy="909022"/>
            <a:chOff x="1471799" y="2717800"/>
            <a:chExt cx="2760220" cy="454511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40C9641-C9FB-4CBF-B73D-0FA8A54B1497}"/>
                </a:ext>
              </a:extLst>
            </p:cNvPr>
            <p:cNvCxnSpPr/>
            <p:nvPr/>
          </p:nvCxnSpPr>
          <p:spPr>
            <a:xfrm>
              <a:off x="1471799" y="2717800"/>
              <a:ext cx="572901" cy="0"/>
            </a:xfrm>
            <a:prstGeom prst="line">
              <a:avLst/>
            </a:prstGeom>
            <a:ln w="28575">
              <a:solidFill>
                <a:srgbClr val="FF8B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1C4751D-5633-4487-AA46-DF163B4D3CBC}"/>
                </a:ext>
              </a:extLst>
            </p:cNvPr>
            <p:cNvSpPr txBox="1"/>
            <p:nvPr/>
          </p:nvSpPr>
          <p:spPr>
            <a:xfrm>
              <a:off x="2133527" y="2730668"/>
              <a:ext cx="2098492" cy="41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spc="200" dirty="0">
                  <a:solidFill>
                    <a:srgbClr val="6F3508"/>
                  </a:solidFill>
                  <a:latin typeface="+mn-ea"/>
                  <a:cs typeface="Arial" panose="020B0604020202020204" pitchFamily="34" charset="0"/>
                </a:rPr>
                <a:t>프로젝트 절차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4F99D7-B530-4E8F-9EBA-8D3C29EE012E}"/>
                </a:ext>
              </a:extLst>
            </p:cNvPr>
            <p:cNvSpPr txBox="1"/>
            <p:nvPr/>
          </p:nvSpPr>
          <p:spPr>
            <a:xfrm>
              <a:off x="1474176" y="2772201"/>
              <a:ext cx="6237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600" b="1" spc="200" dirty="0">
                  <a:solidFill>
                    <a:srgbClr val="6F3508"/>
                  </a:solidFill>
                </a:rPr>
                <a:t>002</a:t>
              </a:r>
              <a:endParaRPr lang="ko-KR" altLang="en-US" sz="4600" b="1" spc="200" dirty="0">
                <a:solidFill>
                  <a:srgbClr val="6F3508"/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8C55082-0657-4C05-8397-BBB34B440D41}"/>
              </a:ext>
            </a:extLst>
          </p:cNvPr>
          <p:cNvGrpSpPr/>
          <p:nvPr/>
        </p:nvGrpSpPr>
        <p:grpSpPr>
          <a:xfrm>
            <a:off x="1965057" y="8672656"/>
            <a:ext cx="4238036" cy="909022"/>
            <a:chOff x="1471799" y="2717800"/>
            <a:chExt cx="2119018" cy="454511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8CF79EFE-51FF-4771-8144-E789296B19C8}"/>
                </a:ext>
              </a:extLst>
            </p:cNvPr>
            <p:cNvCxnSpPr/>
            <p:nvPr/>
          </p:nvCxnSpPr>
          <p:spPr>
            <a:xfrm>
              <a:off x="1471799" y="2717800"/>
              <a:ext cx="572901" cy="0"/>
            </a:xfrm>
            <a:prstGeom prst="line">
              <a:avLst/>
            </a:prstGeom>
            <a:ln w="28575">
              <a:solidFill>
                <a:srgbClr val="FF8B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B0620F5-9DF4-43D3-AE35-ABE601267C76}"/>
                </a:ext>
              </a:extLst>
            </p:cNvPr>
            <p:cNvSpPr txBox="1"/>
            <p:nvPr/>
          </p:nvSpPr>
          <p:spPr>
            <a:xfrm>
              <a:off x="2133527" y="2730668"/>
              <a:ext cx="1457290" cy="41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spc="200" dirty="0">
                  <a:solidFill>
                    <a:srgbClr val="6F3508"/>
                  </a:solidFill>
                  <a:latin typeface="+mn-ea"/>
                  <a:cs typeface="Arial" panose="020B0604020202020204" pitchFamily="34" charset="0"/>
                </a:rPr>
                <a:t>기능 소개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6FEE574-2259-42BD-B7C7-774717AFECF1}"/>
                </a:ext>
              </a:extLst>
            </p:cNvPr>
            <p:cNvSpPr txBox="1"/>
            <p:nvPr/>
          </p:nvSpPr>
          <p:spPr>
            <a:xfrm>
              <a:off x="1474176" y="2772201"/>
              <a:ext cx="6237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600" b="1" spc="200" dirty="0">
                  <a:solidFill>
                    <a:srgbClr val="6F3508"/>
                  </a:solidFill>
                </a:rPr>
                <a:t>003</a:t>
              </a:r>
              <a:endParaRPr lang="ko-KR" altLang="en-US" sz="4600" b="1" spc="200" dirty="0">
                <a:solidFill>
                  <a:srgbClr val="6F3508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95F8DEE-6AE2-4F43-942E-21324C880805}"/>
              </a:ext>
            </a:extLst>
          </p:cNvPr>
          <p:cNvGrpSpPr/>
          <p:nvPr/>
        </p:nvGrpSpPr>
        <p:grpSpPr>
          <a:xfrm>
            <a:off x="1965057" y="10565098"/>
            <a:ext cx="3104714" cy="909022"/>
            <a:chOff x="1471799" y="2717800"/>
            <a:chExt cx="1552357" cy="454511"/>
          </a:xfrm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F54B12D7-B6D8-4098-B65A-3B6BC2AD31D6}"/>
                </a:ext>
              </a:extLst>
            </p:cNvPr>
            <p:cNvCxnSpPr/>
            <p:nvPr/>
          </p:nvCxnSpPr>
          <p:spPr>
            <a:xfrm>
              <a:off x="1471799" y="2717800"/>
              <a:ext cx="572901" cy="0"/>
            </a:xfrm>
            <a:prstGeom prst="line">
              <a:avLst/>
            </a:prstGeom>
            <a:ln w="28575">
              <a:solidFill>
                <a:srgbClr val="FF8B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049F535-6DFC-4CF8-95FC-253283417C64}"/>
                </a:ext>
              </a:extLst>
            </p:cNvPr>
            <p:cNvSpPr txBox="1"/>
            <p:nvPr/>
          </p:nvSpPr>
          <p:spPr>
            <a:xfrm>
              <a:off x="2133527" y="2730668"/>
              <a:ext cx="890629" cy="415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spc="200" dirty="0">
                  <a:solidFill>
                    <a:srgbClr val="6F3508"/>
                  </a:solidFill>
                  <a:latin typeface="+mn-ea"/>
                  <a:cs typeface="Arial" panose="020B0604020202020204" pitchFamily="34" charset="0"/>
                </a:rPr>
                <a:t>Q &amp; A</a:t>
              </a:r>
              <a:endParaRPr lang="ko-KR" altLang="en-US" sz="4800" spc="200" dirty="0">
                <a:solidFill>
                  <a:srgbClr val="6F3508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7B6DB2C-CAF6-412F-92C6-133DFDD5C131}"/>
                </a:ext>
              </a:extLst>
            </p:cNvPr>
            <p:cNvSpPr txBox="1"/>
            <p:nvPr/>
          </p:nvSpPr>
          <p:spPr>
            <a:xfrm>
              <a:off x="1474176" y="2772201"/>
              <a:ext cx="6237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600" b="1" spc="200" dirty="0">
                  <a:solidFill>
                    <a:srgbClr val="6F3508"/>
                  </a:solidFill>
                </a:rPr>
                <a:t>004</a:t>
              </a:r>
              <a:endParaRPr lang="ko-KR" altLang="en-US" sz="4600" b="1" spc="200" dirty="0">
                <a:solidFill>
                  <a:srgbClr val="6F35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130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8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1" y="3467101"/>
            <a:ext cx="2771913" cy="621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98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1</a:t>
            </a:r>
            <a:endParaRPr lang="ko-KR" altLang="en-US" sz="39800" b="1" dirty="0">
              <a:solidFill>
                <a:schemeClr val="accent4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2668" y="5688450"/>
            <a:ext cx="52950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400" dirty="0">
                <a:solidFill>
                  <a:schemeClr val="accent4">
                    <a:lumMod val="20000"/>
                    <a:lumOff val="80000"/>
                  </a:schemeClr>
                </a:solidFill>
                <a:latin typeface="+mn-ea"/>
              </a:rPr>
              <a:t>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669" y="6786412"/>
            <a:ext cx="9834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팀원 소개 </a:t>
            </a:r>
            <a:r>
              <a:rPr lang="en-US" altLang="ko-KR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 </a:t>
            </a:r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프로젝트 개요 </a:t>
            </a:r>
            <a:r>
              <a:rPr lang="en-US" altLang="ko-KR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 </a:t>
            </a:r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시스템 구성도 </a:t>
            </a:r>
            <a:r>
              <a:rPr lang="en-US" altLang="ko-KR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 </a:t>
            </a:r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목표 및 기대효과</a:t>
            </a:r>
            <a:endParaRPr lang="en-US" altLang="ko-KR" sz="2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7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/>
        </p:nvSpPr>
        <p:spPr>
          <a:xfrm>
            <a:off x="2474957" y="1401163"/>
            <a:ext cx="5444109" cy="986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19" y="0"/>
                </a:moveTo>
                <a:lnTo>
                  <a:pt x="18981" y="0"/>
                </a:lnTo>
                <a:cubicBezTo>
                  <a:pt x="19356" y="0"/>
                  <a:pt x="19639" y="0"/>
                  <a:pt x="19879" y="9"/>
                </a:cubicBezTo>
                <a:cubicBezTo>
                  <a:pt x="20119" y="18"/>
                  <a:pt x="20316" y="35"/>
                  <a:pt x="20518" y="71"/>
                </a:cubicBezTo>
                <a:cubicBezTo>
                  <a:pt x="20740" y="115"/>
                  <a:pt x="20938" y="186"/>
                  <a:pt x="21101" y="276"/>
                </a:cubicBezTo>
                <a:cubicBezTo>
                  <a:pt x="21263" y="366"/>
                  <a:pt x="21391" y="475"/>
                  <a:pt x="21472" y="597"/>
                </a:cubicBezTo>
                <a:cubicBezTo>
                  <a:pt x="21536" y="709"/>
                  <a:pt x="21568" y="818"/>
                  <a:pt x="21584" y="951"/>
                </a:cubicBezTo>
                <a:cubicBezTo>
                  <a:pt x="21600" y="1084"/>
                  <a:pt x="21600" y="1242"/>
                  <a:pt x="21600" y="1452"/>
                </a:cubicBezTo>
                <a:lnTo>
                  <a:pt x="21600" y="20154"/>
                </a:lnTo>
                <a:cubicBezTo>
                  <a:pt x="21600" y="20361"/>
                  <a:pt x="21600" y="20518"/>
                  <a:pt x="21584" y="20650"/>
                </a:cubicBezTo>
                <a:cubicBezTo>
                  <a:pt x="21568" y="20782"/>
                  <a:pt x="21536" y="20891"/>
                  <a:pt x="21472" y="21003"/>
                </a:cubicBezTo>
                <a:cubicBezTo>
                  <a:pt x="21391" y="21125"/>
                  <a:pt x="21263" y="21234"/>
                  <a:pt x="21101" y="21324"/>
                </a:cubicBezTo>
                <a:cubicBezTo>
                  <a:pt x="20938" y="21414"/>
                  <a:pt x="20740" y="21485"/>
                  <a:pt x="20518" y="21529"/>
                </a:cubicBezTo>
                <a:cubicBezTo>
                  <a:pt x="20316" y="21565"/>
                  <a:pt x="20119" y="21582"/>
                  <a:pt x="19878" y="21591"/>
                </a:cubicBezTo>
                <a:cubicBezTo>
                  <a:pt x="19636" y="21600"/>
                  <a:pt x="19350" y="21600"/>
                  <a:pt x="18969" y="21600"/>
                </a:cubicBezTo>
                <a:lnTo>
                  <a:pt x="2619" y="21600"/>
                </a:lnTo>
                <a:cubicBezTo>
                  <a:pt x="2244" y="21600"/>
                  <a:pt x="1961" y="21600"/>
                  <a:pt x="1721" y="21591"/>
                </a:cubicBezTo>
                <a:cubicBezTo>
                  <a:pt x="1481" y="21582"/>
                  <a:pt x="1284" y="21565"/>
                  <a:pt x="1082" y="21529"/>
                </a:cubicBezTo>
                <a:cubicBezTo>
                  <a:pt x="860" y="21485"/>
                  <a:pt x="662" y="21414"/>
                  <a:pt x="499" y="21324"/>
                </a:cubicBezTo>
                <a:cubicBezTo>
                  <a:pt x="337" y="21234"/>
                  <a:pt x="209" y="21125"/>
                  <a:pt x="128" y="21003"/>
                </a:cubicBezTo>
                <a:cubicBezTo>
                  <a:pt x="64" y="20891"/>
                  <a:pt x="32" y="20782"/>
                  <a:pt x="16" y="20649"/>
                </a:cubicBezTo>
                <a:cubicBezTo>
                  <a:pt x="0" y="20516"/>
                  <a:pt x="0" y="20358"/>
                  <a:pt x="0" y="20148"/>
                </a:cubicBezTo>
                <a:lnTo>
                  <a:pt x="0" y="1446"/>
                </a:lnTo>
                <a:cubicBezTo>
                  <a:pt x="0" y="1239"/>
                  <a:pt x="0" y="1082"/>
                  <a:pt x="16" y="950"/>
                </a:cubicBezTo>
                <a:cubicBezTo>
                  <a:pt x="32" y="818"/>
                  <a:pt x="64" y="709"/>
                  <a:pt x="128" y="597"/>
                </a:cubicBezTo>
                <a:cubicBezTo>
                  <a:pt x="209" y="475"/>
                  <a:pt x="337" y="366"/>
                  <a:pt x="499" y="276"/>
                </a:cubicBezTo>
                <a:cubicBezTo>
                  <a:pt x="662" y="186"/>
                  <a:pt x="860" y="115"/>
                  <a:pt x="1082" y="71"/>
                </a:cubicBezTo>
                <a:cubicBezTo>
                  <a:pt x="1284" y="35"/>
                  <a:pt x="1481" y="18"/>
                  <a:pt x="1722" y="9"/>
                </a:cubicBezTo>
                <a:cubicBezTo>
                  <a:pt x="1964" y="0"/>
                  <a:pt x="2250" y="0"/>
                  <a:pt x="2631" y="0"/>
                </a:cubicBezTo>
                <a:lnTo>
                  <a:pt x="2619" y="0"/>
                </a:lnTo>
                <a:close/>
              </a:path>
            </a:pathLst>
          </a:custGeom>
          <a:solidFill>
            <a:srgbClr val="F0F0F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48" name="Shape 148"/>
          <p:cNvSpPr/>
          <p:nvPr/>
        </p:nvSpPr>
        <p:spPr>
          <a:xfrm>
            <a:off x="2559395" y="2086827"/>
            <a:ext cx="5224434" cy="8509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5000" cap="all" spc="550">
                <a:solidFill>
                  <a:srgbClr val="EC266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b="1" dirty="0">
                <a:solidFill>
                  <a:srgbClr val="FF8B5F"/>
                </a:solidFill>
              </a:rPr>
              <a:t>마 진 호</a:t>
            </a:r>
            <a:endParaRPr b="1" dirty="0">
              <a:solidFill>
                <a:srgbClr val="FF8B5F"/>
              </a:solidFill>
            </a:endParaRPr>
          </a:p>
        </p:txBody>
      </p:sp>
      <p:sp>
        <p:nvSpPr>
          <p:cNvPr id="149" name="Shape 149"/>
          <p:cNvSpPr/>
          <p:nvPr/>
        </p:nvSpPr>
        <p:spPr>
          <a:xfrm>
            <a:off x="2597494" y="3115096"/>
            <a:ext cx="5224435" cy="87716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5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</a:lstStyle>
          <a:p>
            <a:r>
              <a:rPr lang="en-US" dirty="0"/>
              <a:t>Project Manager</a:t>
            </a:r>
            <a:endParaRPr dirty="0"/>
          </a:p>
        </p:txBody>
      </p:sp>
      <p:sp>
        <p:nvSpPr>
          <p:cNvPr id="150" name="Shape 150"/>
          <p:cNvSpPr/>
          <p:nvPr/>
        </p:nvSpPr>
        <p:spPr>
          <a:xfrm>
            <a:off x="3385493" y="5077114"/>
            <a:ext cx="3648435" cy="18466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ko-KR" altLang="en-US" dirty="0"/>
              <a:t>게시판 기능 구현</a:t>
            </a:r>
          </a:p>
          <a:p>
            <a:pPr algn="ctr"/>
            <a:endParaRPr lang="ko-KR" altLang="en-US" dirty="0"/>
          </a:p>
          <a:p>
            <a:pPr algn="ctr"/>
            <a:r>
              <a:rPr lang="ko-KR" altLang="en-US" dirty="0"/>
              <a:t>댓글 기능 구현</a:t>
            </a:r>
          </a:p>
          <a:p>
            <a:pPr algn="ctr"/>
            <a:endParaRPr lang="ko-KR" altLang="en-US" dirty="0"/>
          </a:p>
          <a:p>
            <a:pPr algn="ctr"/>
            <a:r>
              <a:rPr lang="ko-KR" altLang="en-US" dirty="0"/>
              <a:t>검색</a:t>
            </a:r>
            <a:r>
              <a:rPr lang="en-US" altLang="ko-KR" dirty="0"/>
              <a:t>, </a:t>
            </a:r>
            <a:r>
              <a:rPr lang="ko-KR" altLang="en-US" dirty="0"/>
              <a:t>카테고리 </a:t>
            </a:r>
            <a:r>
              <a:rPr lang="ko-KR" altLang="en-US" dirty="0" err="1"/>
              <a:t>페이징</a:t>
            </a:r>
            <a:r>
              <a:rPr lang="ko-KR" altLang="en-US" dirty="0"/>
              <a:t> 구현</a:t>
            </a:r>
          </a:p>
        </p:txBody>
      </p:sp>
      <p:sp>
        <p:nvSpPr>
          <p:cNvPr id="151" name="Shape 151"/>
          <p:cNvSpPr/>
          <p:nvPr/>
        </p:nvSpPr>
        <p:spPr>
          <a:xfrm>
            <a:off x="3843692" y="9738539"/>
            <a:ext cx="2681239" cy="738807"/>
          </a:xfrm>
          <a:prstGeom prst="roundRect">
            <a:avLst>
              <a:gd name="adj" fmla="val 50000"/>
            </a:avLst>
          </a:prstGeom>
          <a:solidFill>
            <a:srgbClr val="FF8B5F">
              <a:alpha val="90000"/>
            </a:srgb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>
              <a:solidFill>
                <a:srgbClr val="FF8B5F"/>
              </a:solidFill>
            </a:endParaRPr>
          </a:p>
        </p:txBody>
      </p:sp>
      <p:sp>
        <p:nvSpPr>
          <p:cNvPr id="152" name="Shape 152"/>
          <p:cNvSpPr/>
          <p:nvPr/>
        </p:nvSpPr>
        <p:spPr>
          <a:xfrm>
            <a:off x="4043593" y="9942842"/>
            <a:ext cx="2306838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dirty="0"/>
              <a:t>팀 장</a:t>
            </a:r>
            <a:endParaRPr dirty="0"/>
          </a:p>
        </p:txBody>
      </p:sp>
      <p:sp>
        <p:nvSpPr>
          <p:cNvPr id="153" name="Shape 153"/>
          <p:cNvSpPr/>
          <p:nvPr/>
        </p:nvSpPr>
        <p:spPr>
          <a:xfrm>
            <a:off x="9469945" y="1401163"/>
            <a:ext cx="5444110" cy="986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19" y="0"/>
                </a:moveTo>
                <a:lnTo>
                  <a:pt x="18981" y="0"/>
                </a:lnTo>
                <a:cubicBezTo>
                  <a:pt x="19356" y="0"/>
                  <a:pt x="19639" y="0"/>
                  <a:pt x="19879" y="9"/>
                </a:cubicBezTo>
                <a:cubicBezTo>
                  <a:pt x="20119" y="18"/>
                  <a:pt x="20316" y="35"/>
                  <a:pt x="20518" y="71"/>
                </a:cubicBezTo>
                <a:cubicBezTo>
                  <a:pt x="20740" y="115"/>
                  <a:pt x="20938" y="186"/>
                  <a:pt x="21101" y="276"/>
                </a:cubicBezTo>
                <a:cubicBezTo>
                  <a:pt x="21263" y="366"/>
                  <a:pt x="21391" y="475"/>
                  <a:pt x="21472" y="597"/>
                </a:cubicBezTo>
                <a:cubicBezTo>
                  <a:pt x="21536" y="709"/>
                  <a:pt x="21568" y="818"/>
                  <a:pt x="21584" y="951"/>
                </a:cubicBezTo>
                <a:cubicBezTo>
                  <a:pt x="21600" y="1084"/>
                  <a:pt x="21600" y="1242"/>
                  <a:pt x="21600" y="1452"/>
                </a:cubicBezTo>
                <a:lnTo>
                  <a:pt x="21600" y="20154"/>
                </a:lnTo>
                <a:cubicBezTo>
                  <a:pt x="21600" y="20361"/>
                  <a:pt x="21600" y="20518"/>
                  <a:pt x="21584" y="20650"/>
                </a:cubicBezTo>
                <a:cubicBezTo>
                  <a:pt x="21568" y="20782"/>
                  <a:pt x="21536" y="20891"/>
                  <a:pt x="21472" y="21003"/>
                </a:cubicBezTo>
                <a:cubicBezTo>
                  <a:pt x="21391" y="21125"/>
                  <a:pt x="21263" y="21234"/>
                  <a:pt x="21101" y="21324"/>
                </a:cubicBezTo>
                <a:cubicBezTo>
                  <a:pt x="20938" y="21414"/>
                  <a:pt x="20740" y="21485"/>
                  <a:pt x="20518" y="21529"/>
                </a:cubicBezTo>
                <a:cubicBezTo>
                  <a:pt x="20316" y="21565"/>
                  <a:pt x="20119" y="21582"/>
                  <a:pt x="19878" y="21591"/>
                </a:cubicBezTo>
                <a:cubicBezTo>
                  <a:pt x="19636" y="21600"/>
                  <a:pt x="19350" y="21600"/>
                  <a:pt x="18969" y="21600"/>
                </a:cubicBezTo>
                <a:lnTo>
                  <a:pt x="2619" y="21600"/>
                </a:lnTo>
                <a:cubicBezTo>
                  <a:pt x="2244" y="21600"/>
                  <a:pt x="1961" y="21600"/>
                  <a:pt x="1721" y="21591"/>
                </a:cubicBezTo>
                <a:cubicBezTo>
                  <a:pt x="1481" y="21582"/>
                  <a:pt x="1284" y="21565"/>
                  <a:pt x="1082" y="21529"/>
                </a:cubicBezTo>
                <a:cubicBezTo>
                  <a:pt x="860" y="21485"/>
                  <a:pt x="662" y="21414"/>
                  <a:pt x="499" y="21324"/>
                </a:cubicBezTo>
                <a:cubicBezTo>
                  <a:pt x="337" y="21234"/>
                  <a:pt x="209" y="21125"/>
                  <a:pt x="128" y="21003"/>
                </a:cubicBezTo>
                <a:cubicBezTo>
                  <a:pt x="64" y="20891"/>
                  <a:pt x="32" y="20782"/>
                  <a:pt x="16" y="20649"/>
                </a:cubicBezTo>
                <a:cubicBezTo>
                  <a:pt x="0" y="20516"/>
                  <a:pt x="0" y="20358"/>
                  <a:pt x="0" y="20148"/>
                </a:cubicBezTo>
                <a:lnTo>
                  <a:pt x="0" y="1446"/>
                </a:lnTo>
                <a:cubicBezTo>
                  <a:pt x="0" y="1239"/>
                  <a:pt x="0" y="1082"/>
                  <a:pt x="16" y="950"/>
                </a:cubicBezTo>
                <a:cubicBezTo>
                  <a:pt x="32" y="818"/>
                  <a:pt x="64" y="709"/>
                  <a:pt x="128" y="597"/>
                </a:cubicBezTo>
                <a:cubicBezTo>
                  <a:pt x="209" y="475"/>
                  <a:pt x="337" y="366"/>
                  <a:pt x="499" y="276"/>
                </a:cubicBezTo>
                <a:cubicBezTo>
                  <a:pt x="662" y="186"/>
                  <a:pt x="860" y="115"/>
                  <a:pt x="1082" y="71"/>
                </a:cubicBezTo>
                <a:cubicBezTo>
                  <a:pt x="1284" y="35"/>
                  <a:pt x="1481" y="18"/>
                  <a:pt x="1722" y="9"/>
                </a:cubicBezTo>
                <a:cubicBezTo>
                  <a:pt x="1964" y="0"/>
                  <a:pt x="2250" y="0"/>
                  <a:pt x="2631" y="0"/>
                </a:cubicBezTo>
                <a:lnTo>
                  <a:pt x="2619" y="0"/>
                </a:lnTo>
                <a:close/>
              </a:path>
            </a:pathLst>
          </a:custGeom>
          <a:solidFill>
            <a:srgbClr val="F0F0F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9541683" y="2086827"/>
            <a:ext cx="5224434" cy="8509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5000" cap="all" spc="550">
                <a:solidFill>
                  <a:srgbClr val="EC266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b="1" dirty="0">
                <a:solidFill>
                  <a:srgbClr val="FF8B5F"/>
                </a:solidFill>
              </a:rPr>
              <a:t>김 연 주</a:t>
            </a:r>
          </a:p>
        </p:txBody>
      </p:sp>
      <p:sp>
        <p:nvSpPr>
          <p:cNvPr id="156" name="Shape 156"/>
          <p:cNvSpPr/>
          <p:nvPr/>
        </p:nvSpPr>
        <p:spPr>
          <a:xfrm>
            <a:off x="9579783" y="3115096"/>
            <a:ext cx="5224434" cy="87716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5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</a:lstStyle>
          <a:p>
            <a:r>
              <a:rPr lang="en-US" dirty="0"/>
              <a:t>Engineer</a:t>
            </a:r>
            <a:endParaRPr dirty="0"/>
          </a:p>
        </p:txBody>
      </p:sp>
      <p:sp>
        <p:nvSpPr>
          <p:cNvPr id="157" name="Shape 157"/>
          <p:cNvSpPr/>
          <p:nvPr/>
        </p:nvSpPr>
        <p:spPr>
          <a:xfrm>
            <a:off x="10236336" y="4823261"/>
            <a:ext cx="3911327" cy="361637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ko-KR" altLang="en-US" dirty="0"/>
              <a:t>웹 사이트 구축 </a:t>
            </a:r>
            <a:r>
              <a:rPr lang="en-US" altLang="ko-KR" dirty="0"/>
              <a:t>UI</a:t>
            </a:r>
            <a:r>
              <a:rPr lang="ko-KR" altLang="en-US" dirty="0"/>
              <a:t> 개발 </a:t>
            </a:r>
          </a:p>
          <a:p>
            <a:pPr algn="ctr"/>
            <a:endParaRPr lang="ko-KR" altLang="en-US" dirty="0"/>
          </a:p>
          <a:p>
            <a:pPr algn="ctr"/>
            <a:r>
              <a:rPr lang="en-US" altLang="ko-KR" dirty="0"/>
              <a:t>DB </a:t>
            </a:r>
            <a:r>
              <a:rPr lang="ko-KR" altLang="en-US" dirty="0"/>
              <a:t>구축 및 연동</a:t>
            </a:r>
          </a:p>
          <a:p>
            <a:pPr algn="ctr"/>
            <a:endParaRPr lang="ko-KR" altLang="en-US" dirty="0"/>
          </a:p>
          <a:p>
            <a:pPr algn="ctr"/>
            <a:r>
              <a:rPr lang="ko-KR" altLang="en-US" dirty="0"/>
              <a:t>회원관리 및 </a:t>
            </a:r>
          </a:p>
          <a:p>
            <a:pPr algn="ctr"/>
            <a:r>
              <a:rPr lang="ko-KR" altLang="en-US" dirty="0"/>
              <a:t>로그인 기능 구현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카카오</a:t>
            </a:r>
            <a:r>
              <a:rPr lang="en-US" altLang="ko-KR" dirty="0"/>
              <a:t>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다음 </a:t>
            </a:r>
            <a:r>
              <a:rPr lang="en-US" altLang="ko-KR" dirty="0"/>
              <a:t>API </a:t>
            </a:r>
            <a:r>
              <a:rPr lang="ko-KR" altLang="en-US" dirty="0"/>
              <a:t>적용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58" name="Shape 158"/>
          <p:cNvSpPr/>
          <p:nvPr/>
        </p:nvSpPr>
        <p:spPr>
          <a:xfrm>
            <a:off x="10825981" y="9738539"/>
            <a:ext cx="2681238" cy="738807"/>
          </a:xfrm>
          <a:prstGeom prst="roundRect">
            <a:avLst>
              <a:gd name="adj" fmla="val 50000"/>
            </a:avLst>
          </a:prstGeom>
          <a:solidFill>
            <a:srgbClr val="FF8B5F">
              <a:alpha val="90000"/>
            </a:srgb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59" name="Shape 159"/>
          <p:cNvSpPr/>
          <p:nvPr/>
        </p:nvSpPr>
        <p:spPr>
          <a:xfrm>
            <a:off x="11025881" y="9942842"/>
            <a:ext cx="2306838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dirty="0"/>
              <a:t>팀 원</a:t>
            </a:r>
            <a:endParaRPr dirty="0"/>
          </a:p>
        </p:txBody>
      </p:sp>
      <p:sp>
        <p:nvSpPr>
          <p:cNvPr id="160" name="Shape 160"/>
          <p:cNvSpPr/>
          <p:nvPr/>
        </p:nvSpPr>
        <p:spPr>
          <a:xfrm>
            <a:off x="16452234" y="1401163"/>
            <a:ext cx="5444109" cy="986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19" y="0"/>
                </a:moveTo>
                <a:lnTo>
                  <a:pt x="18981" y="0"/>
                </a:lnTo>
                <a:cubicBezTo>
                  <a:pt x="19356" y="0"/>
                  <a:pt x="19639" y="0"/>
                  <a:pt x="19879" y="9"/>
                </a:cubicBezTo>
                <a:cubicBezTo>
                  <a:pt x="20119" y="18"/>
                  <a:pt x="20316" y="35"/>
                  <a:pt x="20518" y="71"/>
                </a:cubicBezTo>
                <a:cubicBezTo>
                  <a:pt x="20740" y="115"/>
                  <a:pt x="20938" y="186"/>
                  <a:pt x="21101" y="276"/>
                </a:cubicBezTo>
                <a:cubicBezTo>
                  <a:pt x="21263" y="366"/>
                  <a:pt x="21391" y="475"/>
                  <a:pt x="21472" y="597"/>
                </a:cubicBezTo>
                <a:cubicBezTo>
                  <a:pt x="21536" y="709"/>
                  <a:pt x="21568" y="818"/>
                  <a:pt x="21584" y="951"/>
                </a:cubicBezTo>
                <a:cubicBezTo>
                  <a:pt x="21600" y="1084"/>
                  <a:pt x="21600" y="1242"/>
                  <a:pt x="21600" y="1452"/>
                </a:cubicBezTo>
                <a:lnTo>
                  <a:pt x="21600" y="20154"/>
                </a:lnTo>
                <a:cubicBezTo>
                  <a:pt x="21600" y="20361"/>
                  <a:pt x="21600" y="20518"/>
                  <a:pt x="21584" y="20650"/>
                </a:cubicBezTo>
                <a:cubicBezTo>
                  <a:pt x="21568" y="20782"/>
                  <a:pt x="21536" y="20891"/>
                  <a:pt x="21472" y="21003"/>
                </a:cubicBezTo>
                <a:cubicBezTo>
                  <a:pt x="21391" y="21125"/>
                  <a:pt x="21263" y="21234"/>
                  <a:pt x="21101" y="21324"/>
                </a:cubicBezTo>
                <a:cubicBezTo>
                  <a:pt x="20938" y="21414"/>
                  <a:pt x="20740" y="21485"/>
                  <a:pt x="20518" y="21529"/>
                </a:cubicBezTo>
                <a:cubicBezTo>
                  <a:pt x="20316" y="21565"/>
                  <a:pt x="20119" y="21582"/>
                  <a:pt x="19878" y="21591"/>
                </a:cubicBezTo>
                <a:cubicBezTo>
                  <a:pt x="19636" y="21600"/>
                  <a:pt x="19350" y="21600"/>
                  <a:pt x="18969" y="21600"/>
                </a:cubicBezTo>
                <a:lnTo>
                  <a:pt x="2619" y="21600"/>
                </a:lnTo>
                <a:cubicBezTo>
                  <a:pt x="2244" y="21600"/>
                  <a:pt x="1961" y="21600"/>
                  <a:pt x="1721" y="21591"/>
                </a:cubicBezTo>
                <a:cubicBezTo>
                  <a:pt x="1481" y="21582"/>
                  <a:pt x="1284" y="21565"/>
                  <a:pt x="1082" y="21529"/>
                </a:cubicBezTo>
                <a:cubicBezTo>
                  <a:pt x="860" y="21485"/>
                  <a:pt x="662" y="21414"/>
                  <a:pt x="499" y="21324"/>
                </a:cubicBezTo>
                <a:cubicBezTo>
                  <a:pt x="337" y="21234"/>
                  <a:pt x="209" y="21125"/>
                  <a:pt x="128" y="21003"/>
                </a:cubicBezTo>
                <a:cubicBezTo>
                  <a:pt x="64" y="20891"/>
                  <a:pt x="32" y="20782"/>
                  <a:pt x="16" y="20649"/>
                </a:cubicBezTo>
                <a:cubicBezTo>
                  <a:pt x="0" y="20516"/>
                  <a:pt x="0" y="20358"/>
                  <a:pt x="0" y="20148"/>
                </a:cubicBezTo>
                <a:lnTo>
                  <a:pt x="0" y="1446"/>
                </a:lnTo>
                <a:cubicBezTo>
                  <a:pt x="0" y="1239"/>
                  <a:pt x="0" y="1082"/>
                  <a:pt x="16" y="950"/>
                </a:cubicBezTo>
                <a:cubicBezTo>
                  <a:pt x="32" y="818"/>
                  <a:pt x="64" y="709"/>
                  <a:pt x="128" y="597"/>
                </a:cubicBezTo>
                <a:cubicBezTo>
                  <a:pt x="209" y="475"/>
                  <a:pt x="337" y="366"/>
                  <a:pt x="499" y="276"/>
                </a:cubicBezTo>
                <a:cubicBezTo>
                  <a:pt x="662" y="186"/>
                  <a:pt x="860" y="115"/>
                  <a:pt x="1082" y="71"/>
                </a:cubicBezTo>
                <a:cubicBezTo>
                  <a:pt x="1284" y="35"/>
                  <a:pt x="1481" y="18"/>
                  <a:pt x="1722" y="9"/>
                </a:cubicBezTo>
                <a:cubicBezTo>
                  <a:pt x="1964" y="0"/>
                  <a:pt x="2250" y="0"/>
                  <a:pt x="2631" y="0"/>
                </a:cubicBezTo>
                <a:lnTo>
                  <a:pt x="2619" y="0"/>
                </a:lnTo>
                <a:close/>
              </a:path>
            </a:pathLst>
          </a:custGeom>
          <a:solidFill>
            <a:srgbClr val="F0F0F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2" name="Shape 162"/>
          <p:cNvSpPr/>
          <p:nvPr/>
        </p:nvSpPr>
        <p:spPr>
          <a:xfrm>
            <a:off x="16523971" y="2089084"/>
            <a:ext cx="5224434" cy="8463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5000" cap="all" spc="550">
                <a:solidFill>
                  <a:srgbClr val="EC266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b="1" dirty="0">
                <a:solidFill>
                  <a:srgbClr val="FF8B5F"/>
                </a:solidFill>
              </a:rPr>
              <a:t>김 태 원</a:t>
            </a:r>
            <a:endParaRPr b="1" dirty="0"/>
          </a:p>
        </p:txBody>
      </p:sp>
      <p:sp>
        <p:nvSpPr>
          <p:cNvPr id="163" name="Shape 163"/>
          <p:cNvSpPr/>
          <p:nvPr/>
        </p:nvSpPr>
        <p:spPr>
          <a:xfrm>
            <a:off x="16562071" y="3115096"/>
            <a:ext cx="5224434" cy="87716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5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</a:lstStyle>
          <a:p>
            <a:r>
              <a:rPr lang="en-US" altLang="ko-KR" dirty="0"/>
              <a:t>Engineer</a:t>
            </a:r>
          </a:p>
        </p:txBody>
      </p:sp>
      <p:sp>
        <p:nvSpPr>
          <p:cNvPr id="164" name="Shape 164"/>
          <p:cNvSpPr/>
          <p:nvPr/>
        </p:nvSpPr>
        <p:spPr>
          <a:xfrm>
            <a:off x="17685899" y="4900143"/>
            <a:ext cx="2976777" cy="22006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ko-KR" dirty="0"/>
              <a:t>Web Socket</a:t>
            </a:r>
            <a:r>
              <a:rPr lang="ko-KR" altLang="en-US" dirty="0"/>
              <a:t>을 통한 </a:t>
            </a:r>
          </a:p>
          <a:p>
            <a:pPr algn="ctr"/>
            <a:r>
              <a:rPr lang="ko-KR" altLang="en-US" dirty="0"/>
              <a:t>채팅 기능 구현</a:t>
            </a:r>
          </a:p>
          <a:p>
            <a:pPr algn="ctr"/>
            <a:endParaRPr lang="ko-KR" altLang="en-US" dirty="0"/>
          </a:p>
          <a:p>
            <a:pPr algn="ctr"/>
            <a:r>
              <a:rPr lang="ko-KR" altLang="en-US" dirty="0"/>
              <a:t>판매 상품 게시판 구현</a:t>
            </a:r>
          </a:p>
          <a:p>
            <a:pPr algn="ctr"/>
            <a:endParaRPr lang="ko-KR" altLang="en-US" dirty="0"/>
          </a:p>
          <a:p>
            <a:pPr algn="ctr"/>
            <a:r>
              <a:rPr lang="ko-KR" altLang="en-US" dirty="0"/>
              <a:t>파일 업로드 구현</a:t>
            </a:r>
          </a:p>
        </p:txBody>
      </p:sp>
      <p:sp>
        <p:nvSpPr>
          <p:cNvPr id="165" name="Shape 165"/>
          <p:cNvSpPr/>
          <p:nvPr/>
        </p:nvSpPr>
        <p:spPr>
          <a:xfrm>
            <a:off x="17808269" y="9738539"/>
            <a:ext cx="2681239" cy="738807"/>
          </a:xfrm>
          <a:prstGeom prst="roundRect">
            <a:avLst>
              <a:gd name="adj" fmla="val 50000"/>
            </a:avLst>
          </a:prstGeom>
          <a:solidFill>
            <a:srgbClr val="FF8B5F">
              <a:alpha val="90000"/>
            </a:srgbClr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6" name="Shape 166"/>
          <p:cNvSpPr/>
          <p:nvPr/>
        </p:nvSpPr>
        <p:spPr>
          <a:xfrm>
            <a:off x="18008170" y="9942842"/>
            <a:ext cx="2306838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dirty="0"/>
              <a:t>팀 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06360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664C6576-0226-4938-91E1-0C37357E0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485" y="0"/>
            <a:ext cx="13476514" cy="13716000"/>
          </a:xfrm>
          <a:prstGeom prst="rect">
            <a:avLst/>
          </a:prstGeom>
        </p:spPr>
      </p:pic>
      <p:sp>
        <p:nvSpPr>
          <p:cNvPr id="477" name="Shape 47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478" name="Shape 478"/>
          <p:cNvSpPr/>
          <p:nvPr/>
        </p:nvSpPr>
        <p:spPr>
          <a:xfrm>
            <a:off x="590541" y="5861161"/>
            <a:ext cx="9663802" cy="44319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pPr algn="l"/>
            <a:r>
              <a:rPr lang="ko-KR" altLang="en-US" dirty="0">
                <a:solidFill>
                  <a:srgbClr val="6F6F6F"/>
                </a:solidFill>
              </a:rPr>
              <a:t>모든 사람이 소매상이 될 수 있는 거래지역 정보 기반의 물품 거래 플랫폼</a:t>
            </a:r>
            <a:r>
              <a:rPr lang="en-US" altLang="ko-KR" dirty="0">
                <a:solidFill>
                  <a:srgbClr val="6F6F6F"/>
                </a:solidFill>
              </a:rPr>
              <a:t>.</a:t>
            </a:r>
          </a:p>
          <a:p>
            <a:pPr algn="l"/>
            <a:endParaRPr lang="en-US" altLang="ko-KR" dirty="0">
              <a:solidFill>
                <a:srgbClr val="6F6F6F"/>
              </a:solidFill>
            </a:endParaRPr>
          </a:p>
          <a:p>
            <a:r>
              <a:rPr lang="en-US" altLang="ko-KR" dirty="0">
                <a:solidFill>
                  <a:schemeClr val="accent3">
                    <a:lumMod val="75000"/>
                  </a:schemeClr>
                </a:solidFill>
              </a:rPr>
              <a:t>KAKAO LOGIN API</a:t>
            </a:r>
            <a:r>
              <a:rPr lang="ko-KR" altLang="en-US" dirty="0">
                <a:solidFill>
                  <a:srgbClr val="6F6F6F"/>
                </a:solidFill>
              </a:rPr>
              <a:t>와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</a:rPr>
              <a:t>KAKAO LOCAL API</a:t>
            </a:r>
            <a:r>
              <a:rPr lang="ko-KR" altLang="en-US" dirty="0">
                <a:solidFill>
                  <a:srgbClr val="6F6F6F"/>
                </a:solidFill>
              </a:rPr>
              <a:t>를 사용하여 당근마켓과 </a:t>
            </a:r>
            <a:endParaRPr lang="en-US" altLang="ko-KR" dirty="0">
              <a:solidFill>
                <a:srgbClr val="6F6F6F"/>
              </a:solidFill>
            </a:endParaRPr>
          </a:p>
          <a:p>
            <a:endParaRPr lang="en-US" altLang="ko-KR" dirty="0">
              <a:solidFill>
                <a:srgbClr val="6F6F6F"/>
              </a:solidFill>
            </a:endParaRPr>
          </a:p>
          <a:p>
            <a:r>
              <a:rPr lang="ko-KR" altLang="en-US" dirty="0">
                <a:solidFill>
                  <a:srgbClr val="6F6F6F"/>
                </a:solidFill>
              </a:rPr>
              <a:t>유사한 서비스를 제공함으로써 사용자들은 설정된 지역 정보를 가지고 </a:t>
            </a:r>
            <a:endParaRPr lang="en-US" altLang="ko-KR" dirty="0">
              <a:solidFill>
                <a:srgbClr val="6F6F6F"/>
              </a:solidFill>
            </a:endParaRPr>
          </a:p>
          <a:p>
            <a:endParaRPr lang="en-US" altLang="ko-KR" dirty="0">
              <a:solidFill>
                <a:srgbClr val="6F6F6F"/>
              </a:solidFill>
            </a:endParaRPr>
          </a:p>
          <a:p>
            <a:r>
              <a:rPr lang="ko-KR" altLang="en-US" dirty="0">
                <a:solidFill>
                  <a:srgbClr val="6F6F6F"/>
                </a:solidFill>
              </a:rPr>
              <a:t>다른 사람들의 물품을 확인하고 구매 의사를 밝힐 수 있습니다</a:t>
            </a:r>
            <a:r>
              <a:rPr lang="en-US" altLang="ko-KR" dirty="0">
                <a:solidFill>
                  <a:srgbClr val="6F6F6F"/>
                </a:solidFill>
              </a:rPr>
              <a:t>.</a:t>
            </a:r>
          </a:p>
          <a:p>
            <a:pPr algn="l"/>
            <a:endParaRPr lang="en-US" altLang="ko-KR" dirty="0">
              <a:solidFill>
                <a:srgbClr val="6F6F6F"/>
              </a:solidFill>
            </a:endParaRPr>
          </a:p>
          <a:p>
            <a:pPr algn="l"/>
            <a:endParaRPr lang="en-US" altLang="ko-KR" b="0" i="0" dirty="0">
              <a:solidFill>
                <a:srgbClr val="666666"/>
              </a:solidFill>
              <a:effectLst/>
              <a:latin typeface="Noto Sans"/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668673" y="3449192"/>
            <a:ext cx="11523327" cy="217683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>
            <a:lvl1pPr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</a:lstStyle>
          <a:p>
            <a:r>
              <a:rPr lang="en-US" sz="10000" dirty="0"/>
              <a:t>PROJECT </a:t>
            </a:r>
            <a:r>
              <a:rPr lang="en-US" sz="10000" dirty="0">
                <a:solidFill>
                  <a:srgbClr val="FF8B5F"/>
                </a:solidFill>
              </a:rPr>
              <a:t>Summary</a:t>
            </a:r>
            <a:endParaRPr sz="10000" dirty="0">
              <a:solidFill>
                <a:srgbClr val="FF8B5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14BDAE-AB3B-442D-AEF7-1C3DEDBCB59A}"/>
              </a:ext>
            </a:extLst>
          </p:cNvPr>
          <p:cNvSpPr/>
          <p:nvPr/>
        </p:nvSpPr>
        <p:spPr>
          <a:xfrm>
            <a:off x="10907485" y="0"/>
            <a:ext cx="13476513" cy="13716000"/>
          </a:xfrm>
          <a:prstGeom prst="rect">
            <a:avLst/>
          </a:prstGeom>
          <a:solidFill>
            <a:srgbClr val="FFFFFF">
              <a:alpha val="53000"/>
            </a:srgbClr>
          </a:solidFill>
          <a:ln w="3175" cap="flat">
            <a:noFill/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7362A2B3-E150-436C-B843-430B8FF905A4}"/>
              </a:ext>
            </a:extLst>
          </p:cNvPr>
          <p:cNvSpPr/>
          <p:nvPr/>
        </p:nvSpPr>
        <p:spPr>
          <a:xfrm>
            <a:off x="7028560" y="4946197"/>
            <a:ext cx="3878924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81818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dirty="0"/>
              <a:t>프로젝트 개요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1944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53">
            <a:extLst>
              <a:ext uri="{FF2B5EF4-FFF2-40B4-BE49-F238E27FC236}">
                <a16:creationId xmlns:a16="http://schemas.microsoft.com/office/drawing/2014/main" id="{411BCD2C-189C-4FB0-B6B1-A1586BC6F370}"/>
              </a:ext>
            </a:extLst>
          </p:cNvPr>
          <p:cNvSpPr/>
          <p:nvPr/>
        </p:nvSpPr>
        <p:spPr>
          <a:xfrm>
            <a:off x="6548047" y="7367890"/>
            <a:ext cx="4260025" cy="11125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19" y="0"/>
                </a:moveTo>
                <a:lnTo>
                  <a:pt x="18981" y="0"/>
                </a:lnTo>
                <a:cubicBezTo>
                  <a:pt x="19356" y="0"/>
                  <a:pt x="19639" y="0"/>
                  <a:pt x="19879" y="9"/>
                </a:cubicBezTo>
                <a:cubicBezTo>
                  <a:pt x="20119" y="18"/>
                  <a:pt x="20316" y="35"/>
                  <a:pt x="20518" y="71"/>
                </a:cubicBezTo>
                <a:cubicBezTo>
                  <a:pt x="20740" y="115"/>
                  <a:pt x="20938" y="186"/>
                  <a:pt x="21101" y="276"/>
                </a:cubicBezTo>
                <a:cubicBezTo>
                  <a:pt x="21263" y="366"/>
                  <a:pt x="21391" y="475"/>
                  <a:pt x="21472" y="597"/>
                </a:cubicBezTo>
                <a:cubicBezTo>
                  <a:pt x="21536" y="709"/>
                  <a:pt x="21568" y="818"/>
                  <a:pt x="21584" y="951"/>
                </a:cubicBezTo>
                <a:cubicBezTo>
                  <a:pt x="21600" y="1084"/>
                  <a:pt x="21600" y="1242"/>
                  <a:pt x="21600" y="1452"/>
                </a:cubicBezTo>
                <a:lnTo>
                  <a:pt x="21600" y="20154"/>
                </a:lnTo>
                <a:cubicBezTo>
                  <a:pt x="21600" y="20361"/>
                  <a:pt x="21600" y="20518"/>
                  <a:pt x="21584" y="20650"/>
                </a:cubicBezTo>
                <a:cubicBezTo>
                  <a:pt x="21568" y="20782"/>
                  <a:pt x="21536" y="20891"/>
                  <a:pt x="21472" y="21003"/>
                </a:cubicBezTo>
                <a:cubicBezTo>
                  <a:pt x="21391" y="21125"/>
                  <a:pt x="21263" y="21234"/>
                  <a:pt x="21101" y="21324"/>
                </a:cubicBezTo>
                <a:cubicBezTo>
                  <a:pt x="20938" y="21414"/>
                  <a:pt x="20740" y="21485"/>
                  <a:pt x="20518" y="21529"/>
                </a:cubicBezTo>
                <a:cubicBezTo>
                  <a:pt x="20316" y="21565"/>
                  <a:pt x="20119" y="21582"/>
                  <a:pt x="19878" y="21591"/>
                </a:cubicBezTo>
                <a:cubicBezTo>
                  <a:pt x="19636" y="21600"/>
                  <a:pt x="19350" y="21600"/>
                  <a:pt x="18969" y="21600"/>
                </a:cubicBezTo>
                <a:lnTo>
                  <a:pt x="2619" y="21600"/>
                </a:lnTo>
                <a:cubicBezTo>
                  <a:pt x="2244" y="21600"/>
                  <a:pt x="1961" y="21600"/>
                  <a:pt x="1721" y="21591"/>
                </a:cubicBezTo>
                <a:cubicBezTo>
                  <a:pt x="1481" y="21582"/>
                  <a:pt x="1284" y="21565"/>
                  <a:pt x="1082" y="21529"/>
                </a:cubicBezTo>
                <a:cubicBezTo>
                  <a:pt x="860" y="21485"/>
                  <a:pt x="662" y="21414"/>
                  <a:pt x="499" y="21324"/>
                </a:cubicBezTo>
                <a:cubicBezTo>
                  <a:pt x="337" y="21234"/>
                  <a:pt x="209" y="21125"/>
                  <a:pt x="128" y="21003"/>
                </a:cubicBezTo>
                <a:cubicBezTo>
                  <a:pt x="64" y="20891"/>
                  <a:pt x="32" y="20782"/>
                  <a:pt x="16" y="20649"/>
                </a:cubicBezTo>
                <a:cubicBezTo>
                  <a:pt x="0" y="20516"/>
                  <a:pt x="0" y="20358"/>
                  <a:pt x="0" y="20148"/>
                </a:cubicBezTo>
                <a:lnTo>
                  <a:pt x="0" y="1446"/>
                </a:lnTo>
                <a:cubicBezTo>
                  <a:pt x="0" y="1239"/>
                  <a:pt x="0" y="1082"/>
                  <a:pt x="16" y="950"/>
                </a:cubicBezTo>
                <a:cubicBezTo>
                  <a:pt x="32" y="818"/>
                  <a:pt x="64" y="709"/>
                  <a:pt x="128" y="597"/>
                </a:cubicBezTo>
                <a:cubicBezTo>
                  <a:pt x="209" y="475"/>
                  <a:pt x="337" y="366"/>
                  <a:pt x="499" y="276"/>
                </a:cubicBezTo>
                <a:cubicBezTo>
                  <a:pt x="662" y="186"/>
                  <a:pt x="860" y="115"/>
                  <a:pt x="1082" y="71"/>
                </a:cubicBezTo>
                <a:cubicBezTo>
                  <a:pt x="1284" y="35"/>
                  <a:pt x="1481" y="18"/>
                  <a:pt x="1722" y="9"/>
                </a:cubicBezTo>
                <a:cubicBezTo>
                  <a:pt x="1964" y="0"/>
                  <a:pt x="2250" y="0"/>
                  <a:pt x="2631" y="0"/>
                </a:cubicBezTo>
                <a:lnTo>
                  <a:pt x="2619" y="0"/>
                </a:lnTo>
                <a:close/>
              </a:path>
            </a:pathLst>
          </a:custGeom>
          <a:solidFill>
            <a:srgbClr val="F0F0F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/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</a:t>
            </a:r>
            <a:r>
              <a:rPr lang="en-US" altLang="ko-KR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</a:t>
            </a:r>
            <a:r>
              <a:rPr lang="en-US" altLang="ko-KR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기능 선택</a:t>
            </a:r>
            <a:endParaRPr lang="en-US" altLang="ko-KR" sz="2000" b="1" dirty="0">
              <a:ln>
                <a:solidFill>
                  <a:srgbClr val="F15D5D">
                    <a:alpha val="0"/>
                  </a:srgb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----------------------</a:t>
            </a:r>
          </a:p>
          <a:p>
            <a:pPr algn="ctr"/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업로드</a:t>
            </a:r>
            <a:endParaRPr lang="en-US" altLang="ko-KR" sz="2000" b="1" dirty="0">
              <a:ln>
                <a:solidFill>
                  <a:srgbClr val="F15D5D">
                    <a:alpha val="0"/>
                  </a:srgb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Shape 70"/>
          <p:cNvSpPr/>
          <p:nvPr/>
        </p:nvSpPr>
        <p:spPr>
          <a:xfrm>
            <a:off x="1471062" y="2054696"/>
            <a:ext cx="10298760" cy="1875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</a:lstStyle>
          <a:p>
            <a:r>
              <a:rPr lang="en-US" sz="10000" dirty="0"/>
              <a:t>System </a:t>
            </a:r>
            <a:r>
              <a:rPr lang="en-US" sz="10000" dirty="0">
                <a:solidFill>
                  <a:srgbClr val="FF8B5F"/>
                </a:solidFill>
              </a:rPr>
              <a:t>Diagram</a:t>
            </a:r>
            <a:endParaRPr sz="10000" dirty="0">
              <a:solidFill>
                <a:srgbClr val="FF8B5F"/>
              </a:solidFill>
            </a:endParaRPr>
          </a:p>
        </p:txBody>
      </p:sp>
      <p:sp>
        <p:nvSpPr>
          <p:cNvPr id="14" name="Shape 71"/>
          <p:cNvSpPr/>
          <p:nvPr/>
        </p:nvSpPr>
        <p:spPr>
          <a:xfrm rot="16200000">
            <a:off x="997405" y="4066220"/>
            <a:ext cx="44700669" cy="57778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algn="ctr">
              <a:defRPr sz="25000" b="1">
                <a:solidFill>
                  <a:srgbClr val="F0F0F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lang="en-US" dirty="0"/>
              <a:t>JOONGGO MARKET</a:t>
            </a:r>
            <a:endParaRPr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2AECAB-F4E7-4647-BE87-D01B714A4CC4}"/>
              </a:ext>
            </a:extLst>
          </p:cNvPr>
          <p:cNvSpPr/>
          <p:nvPr/>
        </p:nvSpPr>
        <p:spPr>
          <a:xfrm>
            <a:off x="18170922" y="4703493"/>
            <a:ext cx="1934360" cy="4770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Database</a:t>
            </a:r>
            <a:endParaRPr lang="ko-KR" altLang="en-US" sz="2500" b="1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E0C7BB-6811-4D1D-840D-2F30E9C799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83614" t="67110" r="4824" b="3908"/>
          <a:stretch/>
        </p:blipFill>
        <p:spPr>
          <a:xfrm>
            <a:off x="18428749" y="2299377"/>
            <a:ext cx="1418707" cy="2069962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pic>
        <p:nvPicPr>
          <p:cNvPr id="6" name="Picture 12" descr="oracle에 대한 이미지 검색결과">
            <a:extLst>
              <a:ext uri="{FF2B5EF4-FFF2-40B4-BE49-F238E27FC236}">
                <a16:creationId xmlns:a16="http://schemas.microsoft.com/office/drawing/2014/main" id="{DA5B264F-8130-4751-B896-A31613576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9115" y="4137349"/>
            <a:ext cx="3017974" cy="72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EC20B43-C765-4278-A8FC-3DA31F84FCEE}"/>
              </a:ext>
            </a:extLst>
          </p:cNvPr>
          <p:cNvSpPr/>
          <p:nvPr/>
        </p:nvSpPr>
        <p:spPr>
          <a:xfrm>
            <a:off x="14912771" y="7154966"/>
            <a:ext cx="2904572" cy="4770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Web Server</a:t>
            </a:r>
            <a:endParaRPr lang="ko-KR" altLang="en-US" sz="2500" b="1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B03D75-860A-49F1-B200-ECFEADEF5FE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831126" y="7632020"/>
            <a:ext cx="1048040" cy="169682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4" descr="tomcat server에 대한 이미지 검색결과">
            <a:extLst>
              <a:ext uri="{FF2B5EF4-FFF2-40B4-BE49-F238E27FC236}">
                <a16:creationId xmlns:a16="http://schemas.microsoft.com/office/drawing/2014/main" id="{C7A3AEF9-66A9-4B67-817C-F992C8A23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7211" b="42918"/>
          <a:stretch/>
        </p:blipFill>
        <p:spPr bwMode="auto">
          <a:xfrm>
            <a:off x="14387705" y="7858328"/>
            <a:ext cx="1975633" cy="160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6D9783-2C17-4CCB-BE8C-41A3E00FB82B}"/>
              </a:ext>
            </a:extLst>
          </p:cNvPr>
          <p:cNvSpPr/>
          <p:nvPr/>
        </p:nvSpPr>
        <p:spPr>
          <a:xfrm>
            <a:off x="1737189" y="9384527"/>
            <a:ext cx="2068316" cy="4770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500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User</a:t>
            </a:r>
            <a:endParaRPr lang="ko-KR" altLang="en-US" sz="2500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E62F057-8AA3-4C1B-9C14-1394F4009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757" y="7298115"/>
            <a:ext cx="1801181" cy="1977383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91492A0-7DD1-4763-92A9-9A24675FF0AE}"/>
              </a:ext>
            </a:extLst>
          </p:cNvPr>
          <p:cNvSpPr/>
          <p:nvPr/>
        </p:nvSpPr>
        <p:spPr>
          <a:xfrm>
            <a:off x="11087638" y="2246028"/>
            <a:ext cx="9721494" cy="8225131"/>
          </a:xfrm>
          <a:prstGeom prst="roundRect">
            <a:avLst>
              <a:gd name="adj" fmla="val 3187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n>
                <a:solidFill>
                  <a:srgbClr val="F15D5D">
                    <a:alpha val="0"/>
                  </a:srgbClr>
                </a:solidFill>
              </a:ln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FA3867-7719-4E30-B300-F9C04A046409}"/>
              </a:ext>
            </a:extLst>
          </p:cNvPr>
          <p:cNvSpPr/>
          <p:nvPr/>
        </p:nvSpPr>
        <p:spPr>
          <a:xfrm>
            <a:off x="13988126" y="9414886"/>
            <a:ext cx="1793051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TOMCAT</a:t>
            </a:r>
            <a:endParaRPr lang="ko-KR" altLang="en-US" sz="2000" b="1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3B0AD6F-1E91-4629-8D72-877482DC0F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716" y="2826955"/>
            <a:ext cx="3884708" cy="145676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1492DA-F913-46BB-84E5-EBA6ECF25ACC}"/>
              </a:ext>
            </a:extLst>
          </p:cNvPr>
          <p:cNvSpPr/>
          <p:nvPr/>
        </p:nvSpPr>
        <p:spPr>
          <a:xfrm>
            <a:off x="12306522" y="4356446"/>
            <a:ext cx="2219125" cy="4770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Web Socket</a:t>
            </a:r>
            <a:endParaRPr lang="ko-KR" altLang="en-US" sz="2500" b="1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0D4025E-9C35-48C3-B4DE-ACA3394CA41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6478" y="11309060"/>
            <a:ext cx="1995107" cy="1995107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70843D7-5A82-472D-9B69-28EE6C0C9522}"/>
              </a:ext>
            </a:extLst>
          </p:cNvPr>
          <p:cNvCxnSpPr>
            <a:cxnSpLocks/>
          </p:cNvCxnSpPr>
          <p:nvPr/>
        </p:nvCxnSpPr>
        <p:spPr>
          <a:xfrm>
            <a:off x="16291962" y="9460544"/>
            <a:ext cx="0" cy="1682073"/>
          </a:xfrm>
          <a:prstGeom prst="straightConnector1">
            <a:avLst/>
          </a:prstGeom>
          <a:noFill/>
          <a:ln w="50800" cap="flat">
            <a:solidFill>
              <a:srgbClr val="000000"/>
            </a:solidFill>
            <a:prstDash val="solid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31D45FE-03E0-4718-88ED-6FEC9369494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812323" y="8659436"/>
            <a:ext cx="10575382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B2DB436-81F6-47B6-AD8D-626053FCBB4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3416085" y="4833500"/>
            <a:ext cx="2327822" cy="2264837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3DB4C2F-D9D0-48BF-954D-18BF565DF8C6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6868424" y="5180547"/>
            <a:ext cx="2269678" cy="188554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E4E752D-3A68-4E74-B5F4-3DBE5DDC94F6}"/>
              </a:ext>
            </a:extLst>
          </p:cNvPr>
          <p:cNvSpPr/>
          <p:nvPr/>
        </p:nvSpPr>
        <p:spPr>
          <a:xfrm>
            <a:off x="13718905" y="13122432"/>
            <a:ext cx="2068316" cy="4770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500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Dev</a:t>
            </a:r>
            <a:endParaRPr lang="ko-KR" altLang="en-US" sz="2500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41" name="Shape 153">
            <a:extLst>
              <a:ext uri="{FF2B5EF4-FFF2-40B4-BE49-F238E27FC236}">
                <a16:creationId xmlns:a16="http://schemas.microsoft.com/office/drawing/2014/main" id="{CC72202A-D9F6-4B29-8246-D1585526AE93}"/>
              </a:ext>
            </a:extLst>
          </p:cNvPr>
          <p:cNvSpPr/>
          <p:nvPr/>
        </p:nvSpPr>
        <p:spPr>
          <a:xfrm>
            <a:off x="4590293" y="8937156"/>
            <a:ext cx="4260025" cy="65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19" y="0"/>
                </a:moveTo>
                <a:lnTo>
                  <a:pt x="18981" y="0"/>
                </a:lnTo>
                <a:cubicBezTo>
                  <a:pt x="19356" y="0"/>
                  <a:pt x="19639" y="0"/>
                  <a:pt x="19879" y="9"/>
                </a:cubicBezTo>
                <a:cubicBezTo>
                  <a:pt x="20119" y="18"/>
                  <a:pt x="20316" y="35"/>
                  <a:pt x="20518" y="71"/>
                </a:cubicBezTo>
                <a:cubicBezTo>
                  <a:pt x="20740" y="115"/>
                  <a:pt x="20938" y="186"/>
                  <a:pt x="21101" y="276"/>
                </a:cubicBezTo>
                <a:cubicBezTo>
                  <a:pt x="21263" y="366"/>
                  <a:pt x="21391" y="475"/>
                  <a:pt x="21472" y="597"/>
                </a:cubicBezTo>
                <a:cubicBezTo>
                  <a:pt x="21536" y="709"/>
                  <a:pt x="21568" y="818"/>
                  <a:pt x="21584" y="951"/>
                </a:cubicBezTo>
                <a:cubicBezTo>
                  <a:pt x="21600" y="1084"/>
                  <a:pt x="21600" y="1242"/>
                  <a:pt x="21600" y="1452"/>
                </a:cubicBezTo>
                <a:lnTo>
                  <a:pt x="21600" y="20154"/>
                </a:lnTo>
                <a:cubicBezTo>
                  <a:pt x="21600" y="20361"/>
                  <a:pt x="21600" y="20518"/>
                  <a:pt x="21584" y="20650"/>
                </a:cubicBezTo>
                <a:cubicBezTo>
                  <a:pt x="21568" y="20782"/>
                  <a:pt x="21536" y="20891"/>
                  <a:pt x="21472" y="21003"/>
                </a:cubicBezTo>
                <a:cubicBezTo>
                  <a:pt x="21391" y="21125"/>
                  <a:pt x="21263" y="21234"/>
                  <a:pt x="21101" y="21324"/>
                </a:cubicBezTo>
                <a:cubicBezTo>
                  <a:pt x="20938" y="21414"/>
                  <a:pt x="20740" y="21485"/>
                  <a:pt x="20518" y="21529"/>
                </a:cubicBezTo>
                <a:cubicBezTo>
                  <a:pt x="20316" y="21565"/>
                  <a:pt x="20119" y="21582"/>
                  <a:pt x="19878" y="21591"/>
                </a:cubicBezTo>
                <a:cubicBezTo>
                  <a:pt x="19636" y="21600"/>
                  <a:pt x="19350" y="21600"/>
                  <a:pt x="18969" y="21600"/>
                </a:cubicBezTo>
                <a:lnTo>
                  <a:pt x="2619" y="21600"/>
                </a:lnTo>
                <a:cubicBezTo>
                  <a:pt x="2244" y="21600"/>
                  <a:pt x="1961" y="21600"/>
                  <a:pt x="1721" y="21591"/>
                </a:cubicBezTo>
                <a:cubicBezTo>
                  <a:pt x="1481" y="21582"/>
                  <a:pt x="1284" y="21565"/>
                  <a:pt x="1082" y="21529"/>
                </a:cubicBezTo>
                <a:cubicBezTo>
                  <a:pt x="860" y="21485"/>
                  <a:pt x="662" y="21414"/>
                  <a:pt x="499" y="21324"/>
                </a:cubicBezTo>
                <a:cubicBezTo>
                  <a:pt x="337" y="21234"/>
                  <a:pt x="209" y="21125"/>
                  <a:pt x="128" y="21003"/>
                </a:cubicBezTo>
                <a:cubicBezTo>
                  <a:pt x="64" y="20891"/>
                  <a:pt x="32" y="20782"/>
                  <a:pt x="16" y="20649"/>
                </a:cubicBezTo>
                <a:cubicBezTo>
                  <a:pt x="0" y="20516"/>
                  <a:pt x="0" y="20358"/>
                  <a:pt x="0" y="20148"/>
                </a:cubicBezTo>
                <a:lnTo>
                  <a:pt x="0" y="1446"/>
                </a:lnTo>
                <a:cubicBezTo>
                  <a:pt x="0" y="1239"/>
                  <a:pt x="0" y="1082"/>
                  <a:pt x="16" y="950"/>
                </a:cubicBezTo>
                <a:cubicBezTo>
                  <a:pt x="32" y="818"/>
                  <a:pt x="64" y="709"/>
                  <a:pt x="128" y="597"/>
                </a:cubicBezTo>
                <a:cubicBezTo>
                  <a:pt x="209" y="475"/>
                  <a:pt x="337" y="366"/>
                  <a:pt x="499" y="276"/>
                </a:cubicBezTo>
                <a:cubicBezTo>
                  <a:pt x="662" y="186"/>
                  <a:pt x="860" y="115"/>
                  <a:pt x="1082" y="71"/>
                </a:cubicBezTo>
                <a:cubicBezTo>
                  <a:pt x="1284" y="35"/>
                  <a:pt x="1481" y="18"/>
                  <a:pt x="1722" y="9"/>
                </a:cubicBezTo>
                <a:cubicBezTo>
                  <a:pt x="1964" y="0"/>
                  <a:pt x="2250" y="0"/>
                  <a:pt x="2631" y="0"/>
                </a:cubicBezTo>
                <a:lnTo>
                  <a:pt x="2619" y="0"/>
                </a:lnTo>
                <a:close/>
              </a:path>
            </a:pathLst>
          </a:custGeom>
          <a:solidFill>
            <a:srgbClr val="F0F0F0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/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</a:t>
            </a:r>
            <a:r>
              <a:rPr lang="en-US" altLang="ko-KR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목록 조회</a:t>
            </a:r>
            <a:r>
              <a:rPr lang="en-US" altLang="ko-KR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b="1" dirty="0">
                <a:ln>
                  <a:solidFill>
                    <a:srgbClr val="F15D5D">
                      <a:alpha val="0"/>
                    </a:srgb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테이블 조회</a:t>
            </a:r>
            <a:endParaRPr lang="en-US" altLang="ko-KR" sz="2000" b="1" dirty="0">
              <a:ln>
                <a:solidFill>
                  <a:srgbClr val="F15D5D">
                    <a:alpha val="0"/>
                  </a:srgb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C02A1A-41C6-4376-A16F-3E8AFE7BCC99}"/>
              </a:ext>
            </a:extLst>
          </p:cNvPr>
          <p:cNvSpPr txBox="1"/>
          <p:nvPr/>
        </p:nvSpPr>
        <p:spPr>
          <a:xfrm>
            <a:off x="15135869" y="1611634"/>
            <a:ext cx="23038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200" dirty="0">
                <a:ln>
                  <a:solidFill>
                    <a:srgbClr val="F15D5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rPr>
              <a:t>System Interface</a:t>
            </a:r>
            <a:endParaRPr lang="ko-KR" altLang="en-US" sz="2200" dirty="0">
              <a:ln>
                <a:solidFill>
                  <a:srgbClr val="F15D5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Shape 87">
            <a:extLst>
              <a:ext uri="{FF2B5EF4-FFF2-40B4-BE49-F238E27FC236}">
                <a16:creationId xmlns:a16="http://schemas.microsoft.com/office/drawing/2014/main" id="{DA34C4FC-C189-40DD-AEE3-F8048ED62156}"/>
              </a:ext>
            </a:extLst>
          </p:cNvPr>
          <p:cNvSpPr/>
          <p:nvPr/>
        </p:nvSpPr>
        <p:spPr>
          <a:xfrm>
            <a:off x="6929148" y="3663896"/>
            <a:ext cx="3878924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81818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dirty="0"/>
              <a:t>시스템 구성도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24398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FF8B5F"/>
                </a:solidFill>
              </a:rPr>
              <a:t>Goals</a:t>
            </a:r>
            <a:r>
              <a:rPr lang="en-US" dirty="0"/>
              <a:t> and </a:t>
            </a:r>
            <a:r>
              <a:rPr lang="en-US" dirty="0">
                <a:solidFill>
                  <a:srgbClr val="FF8B5F"/>
                </a:solidFill>
              </a:rPr>
              <a:t>Expectations</a:t>
            </a:r>
            <a:endParaRPr dirty="0">
              <a:solidFill>
                <a:srgbClr val="FF8B5F"/>
              </a:solidFill>
            </a:endParaRPr>
          </a:p>
        </p:txBody>
      </p:sp>
      <p:sp>
        <p:nvSpPr>
          <p:cNvPr id="87" name="Shape 87"/>
          <p:cNvSpPr/>
          <p:nvPr/>
        </p:nvSpPr>
        <p:spPr>
          <a:xfrm>
            <a:off x="15817314" y="3430905"/>
            <a:ext cx="3878924" cy="3556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ctr">
              <a:defRPr sz="1800" cap="all" spc="360">
                <a:solidFill>
                  <a:srgbClr val="818181"/>
                </a:solidFill>
                <a:latin typeface="+mn-lt"/>
                <a:ea typeface="+mn-ea"/>
                <a:cs typeface="+mn-cs"/>
                <a:sym typeface="Montserrat-Regular"/>
              </a:defRPr>
            </a:lvl1pPr>
          </a:lstStyle>
          <a:p>
            <a:r>
              <a:rPr lang="ko-KR" altLang="en-US" dirty="0"/>
              <a:t>목표 및 기대효과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F214E6-B281-4301-9018-D94028532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06" y="5045434"/>
            <a:ext cx="1703320" cy="17033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C0AC22-FD27-441F-8E5C-7DC42F955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781" y="5045434"/>
            <a:ext cx="1703320" cy="1703320"/>
          </a:xfrm>
          <a:prstGeom prst="rect">
            <a:avLst/>
          </a:prstGeom>
        </p:spPr>
      </p:pic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A9241467-C2FD-439C-9687-550879837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378" y="5045434"/>
            <a:ext cx="1703320" cy="1703320"/>
          </a:xfrm>
          <a:prstGeom prst="rect">
            <a:avLst/>
          </a:prstGeom>
        </p:spPr>
      </p:pic>
      <p:sp>
        <p:nvSpPr>
          <p:cNvPr id="17" name="Shape 86">
            <a:extLst>
              <a:ext uri="{FF2B5EF4-FFF2-40B4-BE49-F238E27FC236}">
                <a16:creationId xmlns:a16="http://schemas.microsoft.com/office/drawing/2014/main" id="{7889DE6E-6C77-4FA0-99FC-B4E8104FDB73}"/>
              </a:ext>
            </a:extLst>
          </p:cNvPr>
          <p:cNvSpPr txBox="1">
            <a:spLocks/>
          </p:cNvSpPr>
          <p:nvPr/>
        </p:nvSpPr>
        <p:spPr>
          <a:xfrm>
            <a:off x="3233243" y="5048620"/>
            <a:ext cx="4885453" cy="5161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 lnSpcReduction="100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3000" i="0" dirty="0">
                <a:solidFill>
                  <a:srgbClr val="FF8B5F"/>
                </a:solidFill>
                <a:ea typeface="나눔바른고딕" panose="020B0603020101020101"/>
              </a:rPr>
              <a:t>카테고리별 분류</a:t>
            </a:r>
            <a:endParaRPr lang="en-US" sz="3000" i="0" dirty="0">
              <a:solidFill>
                <a:srgbClr val="FF8B5F"/>
              </a:solidFill>
              <a:ea typeface="나눔바른고딕" panose="020B0603020101020101"/>
            </a:endParaRPr>
          </a:p>
        </p:txBody>
      </p:sp>
      <p:sp>
        <p:nvSpPr>
          <p:cNvPr id="20" name="Shape 86">
            <a:extLst>
              <a:ext uri="{FF2B5EF4-FFF2-40B4-BE49-F238E27FC236}">
                <a16:creationId xmlns:a16="http://schemas.microsoft.com/office/drawing/2014/main" id="{034055C1-F97E-49E2-B99D-27868143BC7C}"/>
              </a:ext>
            </a:extLst>
          </p:cNvPr>
          <p:cNvSpPr txBox="1">
            <a:spLocks/>
          </p:cNvSpPr>
          <p:nvPr/>
        </p:nvSpPr>
        <p:spPr>
          <a:xfrm>
            <a:off x="9897840" y="5045434"/>
            <a:ext cx="4885453" cy="5161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 lnSpcReduction="100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3000" i="0" dirty="0">
                <a:solidFill>
                  <a:srgbClr val="FF8B5F"/>
                </a:solidFill>
                <a:ea typeface="나눔바른고딕" panose="020B0603020101020101"/>
              </a:rPr>
              <a:t>이미지 파일 첨부</a:t>
            </a:r>
            <a:endParaRPr lang="en-US" altLang="ko-KR" sz="3000" i="0" dirty="0">
              <a:solidFill>
                <a:srgbClr val="FF8B5F"/>
              </a:solidFill>
              <a:ea typeface="나눔바른고딕" panose="020B0603020101020101"/>
            </a:endParaRPr>
          </a:p>
        </p:txBody>
      </p:sp>
      <p:sp>
        <p:nvSpPr>
          <p:cNvPr id="21" name="Shape 86">
            <a:extLst>
              <a:ext uri="{FF2B5EF4-FFF2-40B4-BE49-F238E27FC236}">
                <a16:creationId xmlns:a16="http://schemas.microsoft.com/office/drawing/2014/main" id="{A9964C8B-AFB8-4C81-9295-DA2B9579482E}"/>
              </a:ext>
            </a:extLst>
          </p:cNvPr>
          <p:cNvSpPr txBox="1">
            <a:spLocks/>
          </p:cNvSpPr>
          <p:nvPr/>
        </p:nvSpPr>
        <p:spPr>
          <a:xfrm>
            <a:off x="16802585" y="5040435"/>
            <a:ext cx="4885453" cy="5161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 lnSpcReduction="100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3000" i="0" dirty="0">
                <a:solidFill>
                  <a:srgbClr val="FF8B5F"/>
                </a:solidFill>
                <a:ea typeface="나눔바른고딕" panose="020B0603020101020101"/>
              </a:rPr>
              <a:t>위치정보 서비스</a:t>
            </a:r>
            <a:endParaRPr lang="en-US" altLang="ko-KR" sz="3000" i="0" dirty="0">
              <a:solidFill>
                <a:srgbClr val="FF8B5F"/>
              </a:solidFill>
              <a:ea typeface="나눔바른고딕" panose="020B0603020101020101"/>
            </a:endParaRPr>
          </a:p>
        </p:txBody>
      </p:sp>
      <p:sp>
        <p:nvSpPr>
          <p:cNvPr id="22" name="Shape 86">
            <a:extLst>
              <a:ext uri="{FF2B5EF4-FFF2-40B4-BE49-F238E27FC236}">
                <a16:creationId xmlns:a16="http://schemas.microsoft.com/office/drawing/2014/main" id="{6F174016-E228-43C2-835B-374B38639972}"/>
              </a:ext>
            </a:extLst>
          </p:cNvPr>
          <p:cNvSpPr txBox="1">
            <a:spLocks/>
          </p:cNvSpPr>
          <p:nvPr/>
        </p:nvSpPr>
        <p:spPr>
          <a:xfrm>
            <a:off x="4283534" y="5606472"/>
            <a:ext cx="4416330" cy="88827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2500" i="0" dirty="0">
                <a:solidFill>
                  <a:schemeClr val="bg1"/>
                </a:solidFill>
                <a:ea typeface="나눔바른고딕" panose="020B0603020101020101"/>
              </a:rPr>
              <a:t>카테고리 적용을 통해 원하는</a:t>
            </a:r>
            <a:endParaRPr lang="en-US" altLang="ko-KR" sz="2500" i="0" dirty="0">
              <a:solidFill>
                <a:schemeClr val="bg1"/>
              </a:solidFill>
              <a:ea typeface="나눔바른고딕" panose="020B0603020101020101"/>
            </a:endParaRPr>
          </a:p>
          <a:p>
            <a:pPr algn="l" hangingPunct="1"/>
            <a:r>
              <a:rPr lang="ko-KR" altLang="en-US" sz="2500" i="0" dirty="0">
                <a:solidFill>
                  <a:schemeClr val="bg1"/>
                </a:solidFill>
                <a:ea typeface="나눔바른고딕" panose="020B0603020101020101"/>
              </a:rPr>
              <a:t>상품 정보에 접근</a:t>
            </a:r>
            <a:endParaRPr lang="en-US" sz="2500" i="0" dirty="0">
              <a:solidFill>
                <a:schemeClr val="bg1"/>
              </a:solidFill>
              <a:ea typeface="나눔바른고딕" panose="020B0603020101020101"/>
            </a:endParaRPr>
          </a:p>
        </p:txBody>
      </p:sp>
      <p:sp>
        <p:nvSpPr>
          <p:cNvPr id="23" name="Shape 86">
            <a:extLst>
              <a:ext uri="{FF2B5EF4-FFF2-40B4-BE49-F238E27FC236}">
                <a16:creationId xmlns:a16="http://schemas.microsoft.com/office/drawing/2014/main" id="{53E54BD0-E202-4CC5-822C-30E21BE9A95E}"/>
              </a:ext>
            </a:extLst>
          </p:cNvPr>
          <p:cNvSpPr txBox="1">
            <a:spLocks/>
          </p:cNvSpPr>
          <p:nvPr/>
        </p:nvSpPr>
        <p:spPr>
          <a:xfrm>
            <a:off x="10891561" y="5595915"/>
            <a:ext cx="3681647" cy="88827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2500" i="0" dirty="0">
                <a:solidFill>
                  <a:schemeClr val="bg1"/>
                </a:solidFill>
                <a:ea typeface="나눔바른고딕" panose="020B0603020101020101"/>
              </a:rPr>
              <a:t>이미지 파일을 통해 상품 정보 추가 제공</a:t>
            </a:r>
            <a:endParaRPr lang="en-US" sz="2500" i="0" dirty="0">
              <a:solidFill>
                <a:schemeClr val="bg1"/>
              </a:solidFill>
              <a:ea typeface="나눔바른고딕" panose="020B0603020101020101"/>
            </a:endParaRPr>
          </a:p>
        </p:txBody>
      </p:sp>
      <p:sp>
        <p:nvSpPr>
          <p:cNvPr id="24" name="Shape 86">
            <a:extLst>
              <a:ext uri="{FF2B5EF4-FFF2-40B4-BE49-F238E27FC236}">
                <a16:creationId xmlns:a16="http://schemas.microsoft.com/office/drawing/2014/main" id="{EBA36D9D-8ADB-49F2-983D-41AB5C051A8E}"/>
              </a:ext>
            </a:extLst>
          </p:cNvPr>
          <p:cNvSpPr txBox="1">
            <a:spLocks/>
          </p:cNvSpPr>
          <p:nvPr/>
        </p:nvSpPr>
        <p:spPr>
          <a:xfrm>
            <a:off x="17844355" y="5647789"/>
            <a:ext cx="4416330" cy="88827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2500" i="0" dirty="0">
                <a:solidFill>
                  <a:schemeClr val="bg1"/>
                </a:solidFill>
                <a:ea typeface="나눔바른고딕" panose="020B0603020101020101"/>
              </a:rPr>
              <a:t>위치정보를 입력 받아 판매 지역을 직관적으로 파악</a:t>
            </a:r>
            <a:endParaRPr lang="en-US" sz="2500" i="0" dirty="0">
              <a:solidFill>
                <a:schemeClr val="bg1"/>
              </a:solidFill>
              <a:ea typeface="나눔바른고딕" panose="020B0603020101020101"/>
            </a:endParaRPr>
          </a:p>
        </p:txBody>
      </p:sp>
      <p:pic>
        <p:nvPicPr>
          <p:cNvPr id="13" name="그림 12" descr="꽃, 식물이(가) 표시된 사진&#10;&#10;자동 생성된 설명">
            <a:extLst>
              <a:ext uri="{FF2B5EF4-FFF2-40B4-BE49-F238E27FC236}">
                <a16:creationId xmlns:a16="http://schemas.microsoft.com/office/drawing/2014/main" id="{8E4E262B-7822-4BAC-82EE-BFED29B935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394" y="8845993"/>
            <a:ext cx="1703320" cy="1703320"/>
          </a:xfrm>
          <a:prstGeom prst="ellipse">
            <a:avLst/>
          </a:prstGeom>
        </p:spPr>
      </p:pic>
      <p:sp>
        <p:nvSpPr>
          <p:cNvPr id="31" name="Shape 86">
            <a:extLst>
              <a:ext uri="{FF2B5EF4-FFF2-40B4-BE49-F238E27FC236}">
                <a16:creationId xmlns:a16="http://schemas.microsoft.com/office/drawing/2014/main" id="{473A57C4-90E7-453B-92A4-A0A3FF279177}"/>
              </a:ext>
            </a:extLst>
          </p:cNvPr>
          <p:cNvSpPr txBox="1">
            <a:spLocks/>
          </p:cNvSpPr>
          <p:nvPr/>
        </p:nvSpPr>
        <p:spPr>
          <a:xfrm>
            <a:off x="6479074" y="8991299"/>
            <a:ext cx="4082348" cy="5161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 lnSpcReduction="100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3000" i="0" dirty="0">
                <a:solidFill>
                  <a:srgbClr val="FF8B5F"/>
                </a:solidFill>
                <a:ea typeface="나눔바른고딕" panose="020B0603020101020101"/>
              </a:rPr>
              <a:t>카카오 로그인</a:t>
            </a:r>
            <a:endParaRPr lang="en-US" sz="3000" i="0" dirty="0">
              <a:solidFill>
                <a:srgbClr val="FF8B5F"/>
              </a:solidFill>
              <a:ea typeface="나눔바른고딕" panose="020B0603020101020101"/>
            </a:endParaRPr>
          </a:p>
        </p:txBody>
      </p:sp>
      <p:sp>
        <p:nvSpPr>
          <p:cNvPr id="32" name="Shape 86">
            <a:extLst>
              <a:ext uri="{FF2B5EF4-FFF2-40B4-BE49-F238E27FC236}">
                <a16:creationId xmlns:a16="http://schemas.microsoft.com/office/drawing/2014/main" id="{48338A36-14D0-42B1-B02F-9AD7A6A6896C}"/>
              </a:ext>
            </a:extLst>
          </p:cNvPr>
          <p:cNvSpPr txBox="1">
            <a:spLocks/>
          </p:cNvSpPr>
          <p:nvPr/>
        </p:nvSpPr>
        <p:spPr>
          <a:xfrm>
            <a:off x="6491129" y="9507456"/>
            <a:ext cx="4772726" cy="120408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2500" i="0" dirty="0">
                <a:solidFill>
                  <a:schemeClr val="bg1"/>
                </a:solidFill>
                <a:ea typeface="나눔바른고딕" panose="020B0603020101020101"/>
              </a:rPr>
              <a:t>카카오 </a:t>
            </a:r>
            <a:r>
              <a:rPr lang="en-US" altLang="ko-KR" sz="2500" i="0" dirty="0">
                <a:solidFill>
                  <a:schemeClr val="bg1"/>
                </a:solidFill>
                <a:ea typeface="나눔바른고딕" panose="020B0603020101020101"/>
              </a:rPr>
              <a:t>ID</a:t>
            </a:r>
            <a:r>
              <a:rPr lang="ko-KR" altLang="en-US" sz="2500" i="0" dirty="0">
                <a:solidFill>
                  <a:schemeClr val="bg1"/>
                </a:solidFill>
                <a:ea typeface="나눔바른고딕" panose="020B0603020101020101"/>
              </a:rPr>
              <a:t>를 통한 로그인을 가능하게 하여 이용 편의성 제공</a:t>
            </a:r>
            <a:endParaRPr lang="en-US" sz="2500" i="0" dirty="0">
              <a:solidFill>
                <a:schemeClr val="bg1"/>
              </a:solidFill>
              <a:ea typeface="나눔바른고딕" panose="020B0603020101020101"/>
            </a:endParaRPr>
          </a:p>
        </p:txBody>
      </p:sp>
      <p:pic>
        <p:nvPicPr>
          <p:cNvPr id="15" name="그림 14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7D98856-DB59-4202-B929-A39602C12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245" y="8845993"/>
            <a:ext cx="1729704" cy="1716512"/>
          </a:xfrm>
          <a:prstGeom prst="rect">
            <a:avLst/>
          </a:prstGeom>
        </p:spPr>
      </p:pic>
      <p:sp>
        <p:nvSpPr>
          <p:cNvPr id="35" name="Shape 86">
            <a:extLst>
              <a:ext uri="{FF2B5EF4-FFF2-40B4-BE49-F238E27FC236}">
                <a16:creationId xmlns:a16="http://schemas.microsoft.com/office/drawing/2014/main" id="{C5F2EA0F-F099-4D42-82DB-05CCCAA0CD67}"/>
              </a:ext>
            </a:extLst>
          </p:cNvPr>
          <p:cNvSpPr txBox="1">
            <a:spLocks/>
          </p:cNvSpPr>
          <p:nvPr/>
        </p:nvSpPr>
        <p:spPr>
          <a:xfrm>
            <a:off x="14617857" y="8991299"/>
            <a:ext cx="4885453" cy="5161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 lnSpcReduction="100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3000" i="0" dirty="0">
                <a:solidFill>
                  <a:srgbClr val="FF8B5F"/>
                </a:solidFill>
                <a:ea typeface="나눔바른고딕" panose="020B0603020101020101"/>
              </a:rPr>
              <a:t>유저간 채팅 기능</a:t>
            </a:r>
            <a:endParaRPr lang="en-US" sz="3000" i="0" dirty="0">
              <a:solidFill>
                <a:srgbClr val="FF8B5F"/>
              </a:solidFill>
              <a:ea typeface="나눔바른고딕" panose="020B0603020101020101"/>
            </a:endParaRPr>
          </a:p>
        </p:txBody>
      </p:sp>
      <p:sp>
        <p:nvSpPr>
          <p:cNvPr id="36" name="Shape 86">
            <a:extLst>
              <a:ext uri="{FF2B5EF4-FFF2-40B4-BE49-F238E27FC236}">
                <a16:creationId xmlns:a16="http://schemas.microsoft.com/office/drawing/2014/main" id="{8E81613A-A448-44A4-B2E3-B32B30EE03D5}"/>
              </a:ext>
            </a:extLst>
          </p:cNvPr>
          <p:cNvSpPr txBox="1">
            <a:spLocks/>
          </p:cNvSpPr>
          <p:nvPr/>
        </p:nvSpPr>
        <p:spPr>
          <a:xfrm>
            <a:off x="14662309" y="9507456"/>
            <a:ext cx="4772726" cy="9167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algn="l" hangingPunct="1"/>
            <a:r>
              <a:rPr lang="ko-KR" altLang="en-US" sz="2500" i="0">
                <a:solidFill>
                  <a:schemeClr val="bg1"/>
                </a:solidFill>
                <a:ea typeface="나눔바른고딕" panose="020B0603020101020101"/>
              </a:rPr>
              <a:t>채팅 기능을 구현하여 유저간 소통에서 편의성 제공</a:t>
            </a:r>
            <a:endParaRPr lang="en-US" sz="2500" i="0" dirty="0">
              <a:solidFill>
                <a:schemeClr val="bg1"/>
              </a:solidFill>
              <a:ea typeface="나눔바른고딕" panose="020B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87149174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8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1" y="3467101"/>
            <a:ext cx="2771913" cy="621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98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2</a:t>
            </a:r>
            <a:endParaRPr lang="ko-KR" altLang="en-US" sz="39800" b="1" dirty="0">
              <a:solidFill>
                <a:schemeClr val="accent4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9BE96-7DAE-4D1B-BF96-F867AC4CB79F}"/>
              </a:ext>
            </a:extLst>
          </p:cNvPr>
          <p:cNvSpPr txBox="1"/>
          <p:nvPr/>
        </p:nvSpPr>
        <p:spPr>
          <a:xfrm>
            <a:off x="4636414" y="5913924"/>
            <a:ext cx="65726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n-ea"/>
              </a:rPr>
              <a:t>프로젝트 절차</a:t>
            </a:r>
          </a:p>
        </p:txBody>
      </p:sp>
    </p:spTree>
    <p:extLst>
      <p:ext uri="{BB962C8B-B14F-4D97-AF65-F5344CB8AC3E}">
        <p14:creationId xmlns:p14="http://schemas.microsoft.com/office/powerpoint/2010/main" val="2185134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/>
          </p:cNvSpPr>
          <p:nvPr>
            <p:ph type="title"/>
          </p:nvPr>
        </p:nvSpPr>
        <p:spPr>
          <a:xfrm>
            <a:off x="4350690" y="599497"/>
            <a:ext cx="16482720" cy="217683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PROJECT Schedule</a:t>
            </a:r>
            <a:endParaRPr b="1" dirty="0">
              <a:solidFill>
                <a:schemeClr val="bg2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A8281C2F-BCFE-4B27-B72C-A8A08BB8714D}"/>
              </a:ext>
            </a:extLst>
          </p:cNvPr>
          <p:cNvGraphicFramePr>
            <a:graphicFrameLocks noGrp="1"/>
          </p:cNvGraphicFramePr>
          <p:nvPr/>
        </p:nvGraphicFramePr>
        <p:xfrm>
          <a:off x="207494" y="2594919"/>
          <a:ext cx="23802879" cy="10895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8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994785320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1526123799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561170930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4240390966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1916492052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296796604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2708271319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3958529597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2752632784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2485559279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1091277317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532308459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3232383545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4194644729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34">
                  <a:extLst>
                    <a:ext uri="{9D8B030D-6E8A-4147-A177-3AD203B41FA5}">
                      <a16:colId xmlns:a16="http://schemas.microsoft.com/office/drawing/2014/main" val="1125521701"/>
                    </a:ext>
                  </a:extLst>
                </a:gridCol>
              </a:tblGrid>
              <a:tr h="892867">
                <a:tc gridSpan="18">
                  <a:txBody>
                    <a:bodyPr/>
                    <a:lstStyle/>
                    <a:p>
                      <a:pPr marL="0" marR="0" indent="0" algn="ctr" defTabSz="82550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3200" b="1" i="1" u="none" strike="noStrike" cap="all" spc="36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june</a:t>
                      </a:r>
                      <a:r>
                        <a:rPr lang="en-US" altLang="ko-KR" sz="3200" b="1" i="1" u="none" strike="noStrike" cap="all" spc="36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 . 2021</a:t>
                      </a:r>
                      <a:endParaRPr lang="ko-KR" altLang="en-US" sz="3200" b="1" i="1" u="none" strike="noStrike" cap="all" spc="36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82550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2000" b="1" i="0" u="none" strike="noStrike" cap="all" spc="36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카페24 심플해" pitchFamily="2" charset="-127"/>
                        <a:ea typeface="카페24 심플해" pitchFamily="2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82550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500" b="1" i="0" u="none" strike="noStrike" cap="all" spc="36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카페24 심플해" pitchFamily="2" charset="-127"/>
                        <a:ea typeface="카페24 심플해" pitchFamily="2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3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CONTENTS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31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2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3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4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5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6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7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8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9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10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11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12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13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14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15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tserrat-Regular"/>
                        </a:rPr>
                        <a:t>16</a:t>
                      </a:r>
                      <a:endParaRPr kumimoji="0" lang="ko-KR" altLang="en-US" sz="25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tserrat-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프로젝트 기간</a:t>
                      </a:r>
                      <a:endParaRPr lang="en-US" altLang="ko-KR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7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주제 선정</a:t>
                      </a: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정의</a:t>
                      </a: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84272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계획서 작성</a:t>
                      </a: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60202"/>
                  </a:ext>
                </a:extLst>
              </a:tr>
              <a:tr h="555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프로젝트 요구사항 분석 및 설계</a:t>
                      </a:r>
                      <a:endParaRPr kumimoji="0" lang="en-US" altLang="ko-KR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A4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A4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A4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diagram</a:t>
                      </a:r>
                      <a:endParaRPr lang="ko-KR" altLang="en-US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 case model</a:t>
                      </a:r>
                      <a:endParaRPr lang="ko-KR" altLang="en-US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95718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</a:t>
                      </a: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테이블 구조 설계</a:t>
                      </a:r>
                      <a:endParaRPr lang="ko-KR" altLang="en-US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777346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구현</a:t>
                      </a: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98429"/>
                  </a:ext>
                </a:extLst>
              </a:tr>
              <a:tr h="632258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</a:t>
                      </a: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구축</a:t>
                      </a:r>
                      <a:endParaRPr kumimoji="0" lang="en-US" altLang="ko-KR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 server </a:t>
                      </a:r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 page</a:t>
                      </a:r>
                      <a:endParaRPr lang="ko-KR" altLang="en-US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793419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개발</a:t>
                      </a:r>
                      <a:r>
                        <a:rPr lang="en-US" altLang="ko-KR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단위테스트</a:t>
                      </a: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95296"/>
                  </a:ext>
                </a:extLst>
              </a:tr>
              <a:tr h="555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bg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테스트</a:t>
                      </a: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4018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 테스트</a:t>
                      </a:r>
                      <a:r>
                        <a:rPr kumimoji="0" lang="en-US" altLang="ko-KR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사용성 테스트</a:t>
                      </a:r>
                      <a:endParaRPr lang="ko-KR" altLang="en-US" sz="20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5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최종 확인</a:t>
                      </a:r>
                      <a:endParaRPr kumimoji="0" lang="en-US" altLang="ko-KR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5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PPT</a:t>
                      </a: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자료 준비 및 최종 수정</a:t>
                      </a:r>
                      <a:endParaRPr kumimoji="0" lang="en-US" altLang="ko-KR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5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8311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3323C340-0F57-4843-8060-D0083AE2D281}"/>
              </a:ext>
            </a:extLst>
          </p:cNvPr>
          <p:cNvCxnSpPr>
            <a:cxnSpLocks/>
          </p:cNvCxnSpPr>
          <p:nvPr/>
        </p:nvCxnSpPr>
        <p:spPr>
          <a:xfrm flipV="1">
            <a:off x="0" y="9373898"/>
            <a:ext cx="24384000" cy="188908"/>
          </a:xfrm>
          <a:prstGeom prst="line">
            <a:avLst/>
          </a:prstGeom>
          <a:ln w="7620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7A885BB-0F2B-4CD6-A0B6-05E905418756}"/>
              </a:ext>
            </a:extLst>
          </p:cNvPr>
          <p:cNvCxnSpPr>
            <a:cxnSpLocks/>
          </p:cNvCxnSpPr>
          <p:nvPr/>
        </p:nvCxnSpPr>
        <p:spPr>
          <a:xfrm flipV="1">
            <a:off x="5646381" y="9529343"/>
            <a:ext cx="0" cy="758822"/>
          </a:xfrm>
          <a:prstGeom prst="line">
            <a:avLst/>
          </a:prstGeom>
          <a:ln w="5715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B5F1596-6A29-4470-92F1-A318F4AE3C81}"/>
              </a:ext>
            </a:extLst>
          </p:cNvPr>
          <p:cNvCxnSpPr>
            <a:cxnSpLocks/>
          </p:cNvCxnSpPr>
          <p:nvPr/>
        </p:nvCxnSpPr>
        <p:spPr>
          <a:xfrm flipV="1">
            <a:off x="18455866" y="7987185"/>
            <a:ext cx="0" cy="1440000"/>
          </a:xfrm>
          <a:prstGeom prst="line">
            <a:avLst/>
          </a:prstGeom>
          <a:ln w="5715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5208F4F-B1C1-42BD-AE43-FBBD5A801A58}"/>
              </a:ext>
            </a:extLst>
          </p:cNvPr>
          <p:cNvCxnSpPr>
            <a:cxnSpLocks/>
          </p:cNvCxnSpPr>
          <p:nvPr/>
        </p:nvCxnSpPr>
        <p:spPr>
          <a:xfrm>
            <a:off x="1808480" y="8070893"/>
            <a:ext cx="0" cy="1440000"/>
          </a:xfrm>
          <a:prstGeom prst="line">
            <a:avLst/>
          </a:prstGeom>
          <a:ln w="5715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862A137-5078-4053-9596-CC0DFF02DE56}"/>
              </a:ext>
            </a:extLst>
          </p:cNvPr>
          <p:cNvCxnSpPr>
            <a:cxnSpLocks/>
          </p:cNvCxnSpPr>
          <p:nvPr/>
        </p:nvCxnSpPr>
        <p:spPr>
          <a:xfrm flipV="1">
            <a:off x="13560107" y="9434858"/>
            <a:ext cx="0" cy="719950"/>
          </a:xfrm>
          <a:prstGeom prst="line">
            <a:avLst/>
          </a:prstGeom>
          <a:ln w="5715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hape 124">
            <a:extLst>
              <a:ext uri="{FF2B5EF4-FFF2-40B4-BE49-F238E27FC236}">
                <a16:creationId xmlns:a16="http://schemas.microsoft.com/office/drawing/2014/main" id="{97AEC38A-763D-4DD2-8BD6-2B76FAC602B5}"/>
              </a:ext>
            </a:extLst>
          </p:cNvPr>
          <p:cNvSpPr txBox="1">
            <a:spLocks/>
          </p:cNvSpPr>
          <p:nvPr/>
        </p:nvSpPr>
        <p:spPr>
          <a:xfrm>
            <a:off x="4350690" y="599497"/>
            <a:ext cx="16482720" cy="2176835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hangingPunct="1">
              <a:defRPr sz="11200" b="1" i="1">
                <a:solidFill>
                  <a:schemeClr val="bg2"/>
                </a:solidFill>
                <a:latin typeface="Playfair Display Black"/>
                <a:ea typeface="Playfair Display Black"/>
                <a:cs typeface="Playfair Display Black"/>
              </a:defRPr>
            </a:lvl1pPr>
            <a:lvl2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2pPr>
            <a:lvl3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3pPr>
            <a:lvl4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4pPr>
            <a:lvl5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5pPr>
            <a:lvl6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6pPr>
            <a:lvl7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7pPr>
            <a:lvl8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8pPr>
            <a:lvl9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9pPr>
          </a:lstStyle>
          <a:p>
            <a:r>
              <a:rPr lang="en-US" dirty="0"/>
              <a:t>A detailed project schedule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058ECB21-A1ED-4FCC-96B3-8EACA6787FAB}"/>
              </a:ext>
            </a:extLst>
          </p:cNvPr>
          <p:cNvGrpSpPr/>
          <p:nvPr/>
        </p:nvGrpSpPr>
        <p:grpSpPr>
          <a:xfrm>
            <a:off x="467860" y="6388806"/>
            <a:ext cx="2681239" cy="1791355"/>
            <a:chOff x="267372" y="4893028"/>
            <a:chExt cx="2681239" cy="738807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88" name="Shape 151">
              <a:extLst>
                <a:ext uri="{FF2B5EF4-FFF2-40B4-BE49-F238E27FC236}">
                  <a16:creationId xmlns:a16="http://schemas.microsoft.com/office/drawing/2014/main" id="{1B4326ED-0CAD-4202-B6F1-932AC3EFDA41}"/>
                </a:ext>
              </a:extLst>
            </p:cNvPr>
            <p:cNvSpPr/>
            <p:nvPr/>
          </p:nvSpPr>
          <p:spPr>
            <a:xfrm>
              <a:off x="267372" y="4893028"/>
              <a:ext cx="2681239" cy="738807"/>
            </a:xfrm>
            <a:prstGeom prst="roundRect">
              <a:avLst>
                <a:gd name="adj" fmla="val 50000"/>
              </a:avLst>
            </a:prstGeom>
            <a:solidFill>
              <a:srgbClr val="FF8B5F"/>
            </a:solidFill>
            <a:ln w="3175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89" name="Shape 152">
              <a:extLst>
                <a:ext uri="{FF2B5EF4-FFF2-40B4-BE49-F238E27FC236}">
                  <a16:creationId xmlns:a16="http://schemas.microsoft.com/office/drawing/2014/main" id="{366AAE19-97D5-4A77-BFE1-8422AEC16538}"/>
                </a:ext>
              </a:extLst>
            </p:cNvPr>
            <p:cNvSpPr/>
            <p:nvPr/>
          </p:nvSpPr>
          <p:spPr>
            <a:xfrm>
              <a:off x="467273" y="5100594"/>
              <a:ext cx="2306838" cy="349074"/>
            </a:xfrm>
            <a:prstGeom prst="rect">
              <a:avLst/>
            </a:prstGeom>
            <a:solidFill>
              <a:srgbClr val="FF8B5F"/>
            </a:solidFill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계획 및 목표 설정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46CB1878-EB94-48A3-A86D-C1335E926696}"/>
              </a:ext>
            </a:extLst>
          </p:cNvPr>
          <p:cNvGrpSpPr/>
          <p:nvPr/>
        </p:nvGrpSpPr>
        <p:grpSpPr>
          <a:xfrm>
            <a:off x="12219487" y="10154808"/>
            <a:ext cx="2681239" cy="1791355"/>
            <a:chOff x="267372" y="4893028"/>
            <a:chExt cx="2681239" cy="738807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95" name="Shape 151">
              <a:extLst>
                <a:ext uri="{FF2B5EF4-FFF2-40B4-BE49-F238E27FC236}">
                  <a16:creationId xmlns:a16="http://schemas.microsoft.com/office/drawing/2014/main" id="{F19D1821-0CC1-4099-9631-1F8B23C5D808}"/>
                </a:ext>
              </a:extLst>
            </p:cNvPr>
            <p:cNvSpPr/>
            <p:nvPr/>
          </p:nvSpPr>
          <p:spPr>
            <a:xfrm>
              <a:off x="267372" y="4893028"/>
              <a:ext cx="2681239" cy="738807"/>
            </a:xfrm>
            <a:prstGeom prst="roundRect">
              <a:avLst>
                <a:gd name="adj" fmla="val 50000"/>
              </a:avLst>
            </a:prstGeom>
            <a:solidFill>
              <a:srgbClr val="FF8B5F"/>
            </a:solidFill>
            <a:ln w="3175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96" name="Shape 152">
              <a:extLst>
                <a:ext uri="{FF2B5EF4-FFF2-40B4-BE49-F238E27FC236}">
                  <a16:creationId xmlns:a16="http://schemas.microsoft.com/office/drawing/2014/main" id="{9D1A4CE2-09EA-474D-9B01-E368294E770B}"/>
                </a:ext>
              </a:extLst>
            </p:cNvPr>
            <p:cNvSpPr/>
            <p:nvPr/>
          </p:nvSpPr>
          <p:spPr>
            <a:xfrm>
              <a:off x="467273" y="5155178"/>
              <a:ext cx="2306838" cy="190404"/>
            </a:xfrm>
            <a:prstGeom prst="rect">
              <a:avLst/>
            </a:prstGeom>
            <a:noFill/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Ui</a:t>
              </a:r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 구축</a:t>
              </a:r>
              <a:endParaRPr sz="25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23C121C0-A6FB-4E78-8BC3-024EB18CFEE8}"/>
              </a:ext>
            </a:extLst>
          </p:cNvPr>
          <p:cNvGrpSpPr/>
          <p:nvPr/>
        </p:nvGrpSpPr>
        <p:grpSpPr>
          <a:xfrm>
            <a:off x="17137664" y="6305098"/>
            <a:ext cx="2681239" cy="1791355"/>
            <a:chOff x="267372" y="4893028"/>
            <a:chExt cx="2681239" cy="738807"/>
          </a:xfrm>
          <a:solidFill>
            <a:srgbClr val="FF8B5F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98" name="Shape 151">
              <a:extLst>
                <a:ext uri="{FF2B5EF4-FFF2-40B4-BE49-F238E27FC236}">
                  <a16:creationId xmlns:a16="http://schemas.microsoft.com/office/drawing/2014/main" id="{E928181B-FB09-4FFB-93CD-4B86A7103DE1}"/>
                </a:ext>
              </a:extLst>
            </p:cNvPr>
            <p:cNvSpPr/>
            <p:nvPr/>
          </p:nvSpPr>
          <p:spPr>
            <a:xfrm>
              <a:off x="267372" y="4893028"/>
              <a:ext cx="2681239" cy="738807"/>
            </a:xfrm>
            <a:prstGeom prst="roundRect">
              <a:avLst>
                <a:gd name="adj" fmla="val 50000"/>
              </a:avLst>
            </a:prstGeom>
            <a:grpFill/>
            <a:ln w="3175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9" name="Shape 152">
              <a:extLst>
                <a:ext uri="{FF2B5EF4-FFF2-40B4-BE49-F238E27FC236}">
                  <a16:creationId xmlns:a16="http://schemas.microsoft.com/office/drawing/2014/main" id="{3FC72EE7-2F64-4D6C-AA30-696BBBD42200}"/>
                </a:ext>
              </a:extLst>
            </p:cNvPr>
            <p:cNvSpPr/>
            <p:nvPr/>
          </p:nvSpPr>
          <p:spPr>
            <a:xfrm>
              <a:off x="467273" y="5021259"/>
              <a:ext cx="2306838" cy="507744"/>
            </a:xfrm>
            <a:prstGeom prst="rect">
              <a:avLst/>
            </a:prstGeom>
            <a:noFill/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분석 세부기능 구현</a:t>
              </a: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C1966B-C855-4BB3-83E8-8B701822A6DC}"/>
              </a:ext>
            </a:extLst>
          </p:cNvPr>
          <p:cNvGrpSpPr/>
          <p:nvPr/>
        </p:nvGrpSpPr>
        <p:grpSpPr>
          <a:xfrm>
            <a:off x="20975392" y="10109153"/>
            <a:ext cx="2681239" cy="1791355"/>
            <a:chOff x="267372" y="4893028"/>
            <a:chExt cx="2681239" cy="738807"/>
          </a:xfrm>
          <a:solidFill>
            <a:schemeClr val="tx2">
              <a:lumMod val="5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104" name="Shape 151">
              <a:extLst>
                <a:ext uri="{FF2B5EF4-FFF2-40B4-BE49-F238E27FC236}">
                  <a16:creationId xmlns:a16="http://schemas.microsoft.com/office/drawing/2014/main" id="{BDE41722-A72F-4B54-9625-2B961E1E87DB}"/>
                </a:ext>
              </a:extLst>
            </p:cNvPr>
            <p:cNvSpPr/>
            <p:nvPr/>
          </p:nvSpPr>
          <p:spPr>
            <a:xfrm>
              <a:off x="267372" y="4893028"/>
              <a:ext cx="2681239" cy="738807"/>
            </a:xfrm>
            <a:prstGeom prst="roundRect">
              <a:avLst>
                <a:gd name="adj" fmla="val 50000"/>
              </a:avLst>
            </a:prstGeom>
            <a:grpFill/>
            <a:ln w="3175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105" name="Shape 152">
              <a:extLst>
                <a:ext uri="{FF2B5EF4-FFF2-40B4-BE49-F238E27FC236}">
                  <a16:creationId xmlns:a16="http://schemas.microsoft.com/office/drawing/2014/main" id="{2E96C811-447D-4EB4-A56E-44D71BA4A16C}"/>
                </a:ext>
              </a:extLst>
            </p:cNvPr>
            <p:cNvSpPr/>
            <p:nvPr/>
          </p:nvSpPr>
          <p:spPr>
            <a:xfrm>
              <a:off x="467273" y="5100594"/>
              <a:ext cx="2306838" cy="349074"/>
            </a:xfrm>
            <a:prstGeom prst="rect">
              <a:avLst/>
            </a:prstGeom>
            <a:grpFill/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 및 성능 보수</a:t>
              </a:r>
              <a:endParaRPr sz="25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6A9EA31-93B9-454B-9D89-9B21ACB43703}"/>
              </a:ext>
            </a:extLst>
          </p:cNvPr>
          <p:cNvGrpSpPr/>
          <p:nvPr/>
        </p:nvGrpSpPr>
        <p:grpSpPr>
          <a:xfrm>
            <a:off x="4305761" y="10254705"/>
            <a:ext cx="2681239" cy="1791355"/>
            <a:chOff x="267372" y="4893028"/>
            <a:chExt cx="2681239" cy="738807"/>
          </a:xfrm>
          <a:solidFill>
            <a:schemeClr val="tx2">
              <a:lumMod val="5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107" name="Shape 151">
              <a:extLst>
                <a:ext uri="{FF2B5EF4-FFF2-40B4-BE49-F238E27FC236}">
                  <a16:creationId xmlns:a16="http://schemas.microsoft.com/office/drawing/2014/main" id="{EF869D62-E30A-421C-9D74-A37B6F8C900F}"/>
                </a:ext>
              </a:extLst>
            </p:cNvPr>
            <p:cNvSpPr/>
            <p:nvPr/>
          </p:nvSpPr>
          <p:spPr>
            <a:xfrm>
              <a:off x="267372" y="4893028"/>
              <a:ext cx="2681239" cy="738807"/>
            </a:xfrm>
            <a:prstGeom prst="roundRect">
              <a:avLst>
                <a:gd name="adj" fmla="val 50000"/>
              </a:avLst>
            </a:prstGeom>
            <a:grpFill/>
            <a:ln w="3175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08" name="Shape 152">
              <a:extLst>
                <a:ext uri="{FF2B5EF4-FFF2-40B4-BE49-F238E27FC236}">
                  <a16:creationId xmlns:a16="http://schemas.microsoft.com/office/drawing/2014/main" id="{4FAC66DA-164D-481C-A59A-8525B1794CD0}"/>
                </a:ext>
              </a:extLst>
            </p:cNvPr>
            <p:cNvSpPr/>
            <p:nvPr/>
          </p:nvSpPr>
          <p:spPr>
            <a:xfrm>
              <a:off x="467273" y="5100594"/>
              <a:ext cx="2306838" cy="349074"/>
            </a:xfrm>
            <a:prstGeom prst="rect">
              <a:avLst/>
            </a:prstGeom>
            <a:noFill/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</a:t>
              </a:r>
            </a:p>
            <a:p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입출력 구현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3BC59EC5-A86A-4717-AC40-5130E0F4BA48}"/>
              </a:ext>
            </a:extLst>
          </p:cNvPr>
          <p:cNvSpPr txBox="1"/>
          <p:nvPr/>
        </p:nvSpPr>
        <p:spPr>
          <a:xfrm>
            <a:off x="8757029" y="2629913"/>
            <a:ext cx="7670042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3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개발기간</a:t>
            </a:r>
            <a:r>
              <a:rPr lang="en-US" altLang="ko-KR" sz="3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: 2021.05.31 ~ 2021.06-16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920716E-F2AF-49D7-96D8-517C6EF16E77}"/>
              </a:ext>
            </a:extLst>
          </p:cNvPr>
          <p:cNvCxnSpPr>
            <a:cxnSpLocks/>
          </p:cNvCxnSpPr>
          <p:nvPr/>
        </p:nvCxnSpPr>
        <p:spPr>
          <a:xfrm flipV="1">
            <a:off x="22316012" y="9410144"/>
            <a:ext cx="0" cy="719950"/>
          </a:xfrm>
          <a:prstGeom prst="line">
            <a:avLst/>
          </a:prstGeom>
          <a:ln w="5715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E149E1C-B0D4-4F7C-9CE0-EA9BB7542653}"/>
              </a:ext>
            </a:extLst>
          </p:cNvPr>
          <p:cNvSpPr txBox="1"/>
          <p:nvPr/>
        </p:nvSpPr>
        <p:spPr>
          <a:xfrm>
            <a:off x="932315" y="10254705"/>
            <a:ext cx="3428606" cy="186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25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marL="0" indent="0">
              <a:buNone/>
            </a:pPr>
            <a:r>
              <a:rPr lang="en-US" altLang="ko-KR" sz="3000" dirty="0">
                <a:solidFill>
                  <a:srgbClr val="FF8B5F"/>
                </a:solidFill>
              </a:rPr>
              <a:t>2days</a:t>
            </a:r>
          </a:p>
          <a:p>
            <a:r>
              <a:rPr lang="en-US" altLang="ko-KR" dirty="0"/>
              <a:t>DB </a:t>
            </a:r>
            <a:r>
              <a:rPr lang="ko-KR" altLang="en-US" dirty="0"/>
              <a:t>구축</a:t>
            </a:r>
            <a:endParaRPr lang="en-US" altLang="ko-KR" dirty="0"/>
          </a:p>
          <a:p>
            <a:r>
              <a:rPr lang="ko-KR" altLang="en-US" dirty="0"/>
              <a:t>요구사항 분석 설계</a:t>
            </a:r>
            <a:endParaRPr lang="en-US" altLang="ko-KR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B6F8853-57FA-4A13-A881-6DECA6EDF894}"/>
              </a:ext>
            </a:extLst>
          </p:cNvPr>
          <p:cNvSpPr txBox="1"/>
          <p:nvPr/>
        </p:nvSpPr>
        <p:spPr>
          <a:xfrm>
            <a:off x="9919590" y="10452622"/>
            <a:ext cx="3581374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3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8B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UI </a:t>
            </a: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구현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490F029-1175-4D82-8612-F957448B6797}"/>
              </a:ext>
            </a:extLst>
          </p:cNvPr>
          <p:cNvSpPr txBox="1"/>
          <p:nvPr/>
        </p:nvSpPr>
        <p:spPr>
          <a:xfrm>
            <a:off x="16348349" y="10094388"/>
            <a:ext cx="4627043" cy="186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3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8B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오류 점검 및 개선</a:t>
            </a:r>
            <a:endParaRPr lang="en-US" altLang="ko-KR" sz="25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리팩토링</a:t>
            </a: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등 기타 성능 보수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7EDA35B-C350-45E2-A97B-DFAC7231410A}"/>
              </a:ext>
            </a:extLst>
          </p:cNvPr>
          <p:cNvSpPr txBox="1"/>
          <p:nvPr/>
        </p:nvSpPr>
        <p:spPr>
          <a:xfrm>
            <a:off x="3772586" y="6315548"/>
            <a:ext cx="3214414" cy="186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3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8B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주제 설정</a:t>
            </a:r>
            <a:endParaRPr lang="en-US" altLang="ko-KR" sz="25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DB </a:t>
            </a: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설계</a:t>
            </a:r>
            <a:endParaRPr lang="en-US" altLang="ko-KR" sz="25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38E68BD-49F4-42AA-93AF-071875C81924}"/>
              </a:ext>
            </a:extLst>
          </p:cNvPr>
          <p:cNvCxnSpPr>
            <a:cxnSpLocks/>
          </p:cNvCxnSpPr>
          <p:nvPr/>
        </p:nvCxnSpPr>
        <p:spPr>
          <a:xfrm flipV="1">
            <a:off x="9640121" y="8089343"/>
            <a:ext cx="0" cy="1440000"/>
          </a:xfrm>
          <a:prstGeom prst="line">
            <a:avLst/>
          </a:prstGeom>
          <a:ln w="5715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B9EF269-2BF1-4549-A4CA-91E17925F19F}"/>
              </a:ext>
            </a:extLst>
          </p:cNvPr>
          <p:cNvGrpSpPr/>
          <p:nvPr/>
        </p:nvGrpSpPr>
        <p:grpSpPr>
          <a:xfrm>
            <a:off x="8321919" y="6407256"/>
            <a:ext cx="2681239" cy="1791355"/>
            <a:chOff x="267372" y="4893028"/>
            <a:chExt cx="2681239" cy="738807"/>
          </a:xfrm>
          <a:solidFill>
            <a:schemeClr val="tx2">
              <a:lumMod val="5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128" name="Shape 151">
              <a:extLst>
                <a:ext uri="{FF2B5EF4-FFF2-40B4-BE49-F238E27FC236}">
                  <a16:creationId xmlns:a16="http://schemas.microsoft.com/office/drawing/2014/main" id="{27BD227F-0918-4193-A9C9-DCD94027E037}"/>
                </a:ext>
              </a:extLst>
            </p:cNvPr>
            <p:cNvSpPr/>
            <p:nvPr/>
          </p:nvSpPr>
          <p:spPr>
            <a:xfrm>
              <a:off x="267372" y="4893028"/>
              <a:ext cx="2681239" cy="738807"/>
            </a:xfrm>
            <a:prstGeom prst="roundRect">
              <a:avLst>
                <a:gd name="adj" fmla="val 50000"/>
              </a:avLst>
            </a:prstGeom>
            <a:grpFill/>
            <a:ln w="3175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9" name="Shape 152">
              <a:extLst>
                <a:ext uri="{FF2B5EF4-FFF2-40B4-BE49-F238E27FC236}">
                  <a16:creationId xmlns:a16="http://schemas.microsoft.com/office/drawing/2014/main" id="{A60BFB6D-6B58-4438-9594-88DC0BD2DEAB}"/>
                </a:ext>
              </a:extLst>
            </p:cNvPr>
            <p:cNvSpPr/>
            <p:nvPr/>
          </p:nvSpPr>
          <p:spPr>
            <a:xfrm>
              <a:off x="467273" y="5021259"/>
              <a:ext cx="2306838" cy="507744"/>
            </a:xfrm>
            <a:prstGeom prst="rect">
              <a:avLst/>
            </a:prstGeom>
            <a:noFill/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ko-KR" altLang="en-US" sz="25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분석 프로세스 설계</a:t>
              </a: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C028D62B-A810-4F9A-89AF-0CFED42AAF0F}"/>
              </a:ext>
            </a:extLst>
          </p:cNvPr>
          <p:cNvSpPr txBox="1"/>
          <p:nvPr/>
        </p:nvSpPr>
        <p:spPr>
          <a:xfrm>
            <a:off x="11132986" y="6617442"/>
            <a:ext cx="4704145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3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8B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 가공 프로세스 설계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B4DA01B-6732-44D1-A6D1-39315805C4A7}"/>
              </a:ext>
            </a:extLst>
          </p:cNvPr>
          <p:cNvSpPr txBox="1"/>
          <p:nvPr/>
        </p:nvSpPr>
        <p:spPr>
          <a:xfrm>
            <a:off x="20075257" y="6122572"/>
            <a:ext cx="3581374" cy="186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3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8B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7days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프로젝트 기능 구현</a:t>
            </a:r>
            <a:endParaRPr lang="en-US" altLang="ko-KR" sz="25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단위테스트 진행</a:t>
            </a:r>
          </a:p>
        </p:txBody>
      </p:sp>
    </p:spTree>
    <p:extLst>
      <p:ext uri="{BB962C8B-B14F-4D97-AF65-F5344CB8AC3E}">
        <p14:creationId xmlns:p14="http://schemas.microsoft.com/office/powerpoint/2010/main" val="252491283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51BC1A6-F872-4B2F-B706-14709EB2F5DE}"/>
              </a:ext>
            </a:extLst>
          </p:cNvPr>
          <p:cNvGrpSpPr/>
          <p:nvPr/>
        </p:nvGrpSpPr>
        <p:grpSpPr>
          <a:xfrm>
            <a:off x="424250" y="2781868"/>
            <a:ext cx="23535499" cy="10625611"/>
            <a:chOff x="1588639" y="1409663"/>
            <a:chExt cx="10058610" cy="4745416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BB75669-1054-4737-81AF-0E2E0DBD2CF2}"/>
                </a:ext>
              </a:extLst>
            </p:cNvPr>
            <p:cNvGrpSpPr/>
            <p:nvPr/>
          </p:nvGrpSpPr>
          <p:grpSpPr>
            <a:xfrm>
              <a:off x="1588639" y="1409663"/>
              <a:ext cx="3283947" cy="2308916"/>
              <a:chOff x="1588639" y="1409663"/>
              <a:chExt cx="3283947" cy="2308916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7F794E32-E687-46BB-8172-6BADE30A5106}"/>
                  </a:ext>
                </a:extLst>
              </p:cNvPr>
              <p:cNvSpPr/>
              <p:nvPr/>
            </p:nvSpPr>
            <p:spPr>
              <a:xfrm>
                <a:off x="1588639" y="1419468"/>
                <a:ext cx="3283947" cy="198837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A86834ED-5EA3-404E-9494-F7641FA69DF3}"/>
                  </a:ext>
                </a:extLst>
              </p:cNvPr>
              <p:cNvGrpSpPr/>
              <p:nvPr/>
            </p:nvGrpSpPr>
            <p:grpSpPr>
              <a:xfrm>
                <a:off x="2248184" y="1409663"/>
                <a:ext cx="2179614" cy="2308916"/>
                <a:chOff x="1407683" y="1466621"/>
                <a:chExt cx="3210777" cy="3401257"/>
              </a:xfrm>
            </p:grpSpPr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668C8D05-21BD-4B90-9FF1-900E994E3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22632" y="1466621"/>
                  <a:ext cx="2520877" cy="0"/>
                </a:xfrm>
                <a:prstGeom prst="line">
                  <a:avLst/>
                </a:prstGeom>
                <a:ln w="76200">
                  <a:solidFill>
                    <a:srgbClr val="FF8B5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0A38404-4325-4BFC-8DEC-F8DC5D57B4AD}"/>
                    </a:ext>
                  </a:extLst>
                </p:cNvPr>
                <p:cNvSpPr txBox="1"/>
                <p:nvPr/>
              </p:nvSpPr>
              <p:spPr>
                <a:xfrm>
                  <a:off x="1407683" y="4442665"/>
                  <a:ext cx="3210777" cy="4252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3600" b="1" spc="-150" dirty="0">
                      <a:solidFill>
                        <a:schemeClr val="bg2"/>
                      </a:solidFill>
                      <a:latin typeface="+mj-ea"/>
                      <a:ea typeface="+mj-ea"/>
                    </a:rPr>
                    <a:t>OS / HW</a:t>
                  </a:r>
                  <a:endParaRPr lang="ko-KR" altLang="en-US" sz="3600" b="1" spc="-150" dirty="0">
                    <a:solidFill>
                      <a:schemeClr val="bg2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3A300703-2005-4794-A430-AECE3A4D7E14}"/>
                </a:ext>
              </a:extLst>
            </p:cNvPr>
            <p:cNvGrpSpPr/>
            <p:nvPr/>
          </p:nvGrpSpPr>
          <p:grpSpPr>
            <a:xfrm>
              <a:off x="4975970" y="1419468"/>
              <a:ext cx="3283947" cy="2299109"/>
              <a:chOff x="1258435" y="1243019"/>
              <a:chExt cx="4837565" cy="3386803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CC980379-3FCA-43F9-978F-DD0631B2D1C3}"/>
                  </a:ext>
                </a:extLst>
              </p:cNvPr>
              <p:cNvSpPr/>
              <p:nvPr/>
            </p:nvSpPr>
            <p:spPr>
              <a:xfrm>
                <a:off x="1258435" y="1243019"/>
                <a:ext cx="4837565" cy="2929071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624E0BB-8ECC-4B5C-AEF3-8A9785FF8F62}"/>
                  </a:ext>
                </a:extLst>
              </p:cNvPr>
              <p:cNvSpPr txBox="1"/>
              <p:nvPr/>
            </p:nvSpPr>
            <p:spPr>
              <a:xfrm>
                <a:off x="2230008" y="4204610"/>
                <a:ext cx="3210777" cy="42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600" b="1" spc="-150" dirty="0">
                    <a:solidFill>
                      <a:schemeClr val="bg2"/>
                    </a:solidFill>
                    <a:latin typeface="+mj-ea"/>
                    <a:ea typeface="+mj-ea"/>
                  </a:rPr>
                  <a:t>개발 </a:t>
                </a:r>
                <a:r>
                  <a:rPr lang="en-US" altLang="ko-KR" sz="3600" b="1" spc="-150" dirty="0">
                    <a:solidFill>
                      <a:schemeClr val="bg2"/>
                    </a:solidFill>
                    <a:latin typeface="+mj-ea"/>
                    <a:ea typeface="+mj-ea"/>
                  </a:rPr>
                  <a:t>Tool</a:t>
                </a:r>
                <a:endParaRPr lang="ko-KR" altLang="en-US" sz="3600" b="1" spc="-150" dirty="0">
                  <a:solidFill>
                    <a:schemeClr val="bg2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FACFF83-3FC6-4469-8920-6FB87F05FB99}"/>
                </a:ext>
              </a:extLst>
            </p:cNvPr>
            <p:cNvGrpSpPr/>
            <p:nvPr/>
          </p:nvGrpSpPr>
          <p:grpSpPr>
            <a:xfrm>
              <a:off x="1588639" y="3878043"/>
              <a:ext cx="3283947" cy="2277035"/>
              <a:chOff x="1258434" y="1243019"/>
              <a:chExt cx="4837565" cy="3354285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CCC9F85-C24A-4711-9107-2BE6A90E872F}"/>
                  </a:ext>
                </a:extLst>
              </p:cNvPr>
              <p:cNvSpPr/>
              <p:nvPr/>
            </p:nvSpPr>
            <p:spPr>
              <a:xfrm>
                <a:off x="1258434" y="1243019"/>
                <a:ext cx="4837565" cy="2929071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400A302-8FF8-4701-8975-2F297E5E3746}"/>
                  </a:ext>
                </a:extLst>
              </p:cNvPr>
              <p:cNvSpPr txBox="1"/>
              <p:nvPr/>
            </p:nvSpPr>
            <p:spPr>
              <a:xfrm>
                <a:off x="2230008" y="4172092"/>
                <a:ext cx="3210777" cy="42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600" b="1" spc="-150" dirty="0" err="1">
                    <a:solidFill>
                      <a:schemeClr val="bg2"/>
                    </a:solidFill>
                    <a:latin typeface="+mj-ea"/>
                    <a:ea typeface="+mj-ea"/>
                  </a:rPr>
                  <a:t>FrameWork</a:t>
                </a:r>
                <a:endParaRPr lang="ko-KR" altLang="en-US" sz="3600" b="1" spc="-150" dirty="0">
                  <a:solidFill>
                    <a:schemeClr val="bg2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4599CED3-C679-42DD-9ACB-10DBBAC97512}"/>
                </a:ext>
              </a:extLst>
            </p:cNvPr>
            <p:cNvGrpSpPr/>
            <p:nvPr/>
          </p:nvGrpSpPr>
          <p:grpSpPr>
            <a:xfrm>
              <a:off x="4975969" y="3878045"/>
              <a:ext cx="3283947" cy="2277033"/>
              <a:chOff x="1258435" y="1243021"/>
              <a:chExt cx="4837565" cy="3354283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2FD426D-4314-4170-A41A-B86FA4F46F93}"/>
                  </a:ext>
                </a:extLst>
              </p:cNvPr>
              <p:cNvSpPr/>
              <p:nvPr/>
            </p:nvSpPr>
            <p:spPr>
              <a:xfrm>
                <a:off x="1258435" y="1243021"/>
                <a:ext cx="4837565" cy="2929071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147A7AE-3FA9-4C71-BCA2-2C9C1934E2A8}"/>
                  </a:ext>
                </a:extLst>
              </p:cNvPr>
              <p:cNvSpPr txBox="1"/>
              <p:nvPr/>
            </p:nvSpPr>
            <p:spPr>
              <a:xfrm>
                <a:off x="2230008" y="4172092"/>
                <a:ext cx="3210777" cy="42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600" b="1" spc="-150" dirty="0">
                    <a:solidFill>
                      <a:schemeClr val="bg2"/>
                    </a:solidFill>
                    <a:latin typeface="+mj-ea"/>
                    <a:ea typeface="+mj-ea"/>
                  </a:rPr>
                  <a:t>Database</a:t>
                </a:r>
                <a:endParaRPr lang="ko-KR" altLang="en-US" sz="3600" b="1" spc="-150" dirty="0">
                  <a:solidFill>
                    <a:schemeClr val="bg2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9D858C6-213C-4329-955C-0F004A9477EE}"/>
                </a:ext>
              </a:extLst>
            </p:cNvPr>
            <p:cNvGrpSpPr/>
            <p:nvPr/>
          </p:nvGrpSpPr>
          <p:grpSpPr>
            <a:xfrm>
              <a:off x="8363302" y="1419468"/>
              <a:ext cx="3283947" cy="2299110"/>
              <a:chOff x="1258434" y="1243019"/>
              <a:chExt cx="4837565" cy="3386803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474D2CAA-8879-42EA-ACAB-E4E2D5D7A247}"/>
                  </a:ext>
                </a:extLst>
              </p:cNvPr>
              <p:cNvSpPr/>
              <p:nvPr/>
            </p:nvSpPr>
            <p:spPr>
              <a:xfrm>
                <a:off x="1258434" y="1243019"/>
                <a:ext cx="4837565" cy="2929070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87C065-F649-467D-94D2-9E4CB4403E2F}"/>
                  </a:ext>
                </a:extLst>
              </p:cNvPr>
              <p:cNvSpPr txBox="1"/>
              <p:nvPr/>
            </p:nvSpPr>
            <p:spPr>
              <a:xfrm>
                <a:off x="2230007" y="4204609"/>
                <a:ext cx="3210778" cy="425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600" b="1" spc="-150" dirty="0">
                    <a:solidFill>
                      <a:schemeClr val="bg2"/>
                    </a:solidFill>
                    <a:latin typeface="+mj-ea"/>
                    <a:ea typeface="+mj-ea"/>
                  </a:rPr>
                  <a:t>Programming Language</a:t>
                </a:r>
                <a:endParaRPr lang="ko-KR" altLang="en-US" sz="3600" b="1" spc="-150" dirty="0">
                  <a:solidFill>
                    <a:schemeClr val="bg2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6581AA8-F253-4F65-B608-50A7BC1D2EDE}"/>
                </a:ext>
              </a:extLst>
            </p:cNvPr>
            <p:cNvGrpSpPr/>
            <p:nvPr/>
          </p:nvGrpSpPr>
          <p:grpSpPr>
            <a:xfrm>
              <a:off x="8363299" y="3878043"/>
              <a:ext cx="3283947" cy="2277036"/>
              <a:chOff x="1258434" y="1243019"/>
              <a:chExt cx="4837565" cy="3354285"/>
            </a:xfrm>
          </p:grpSpPr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17D0633E-5199-4047-B211-2EAF41221318}"/>
                  </a:ext>
                </a:extLst>
              </p:cNvPr>
              <p:cNvSpPr/>
              <p:nvPr/>
            </p:nvSpPr>
            <p:spPr>
              <a:xfrm>
                <a:off x="1258434" y="1243019"/>
                <a:ext cx="4837565" cy="2929070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D148587-1DB0-4B53-B0B3-2A142B097860}"/>
                  </a:ext>
                </a:extLst>
              </p:cNvPr>
              <p:cNvSpPr txBox="1"/>
              <p:nvPr/>
            </p:nvSpPr>
            <p:spPr>
              <a:xfrm>
                <a:off x="2230007" y="4172091"/>
                <a:ext cx="3210778" cy="425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600" b="1" spc="-150" dirty="0">
                    <a:solidFill>
                      <a:schemeClr val="bg2"/>
                    </a:solidFill>
                    <a:latin typeface="+mj-ea"/>
                    <a:ea typeface="+mj-ea"/>
                  </a:rPr>
                  <a:t>Server</a:t>
                </a:r>
                <a:endParaRPr lang="ko-KR" altLang="en-US" sz="3600" b="1" spc="-150" dirty="0">
                  <a:solidFill>
                    <a:schemeClr val="bg2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71" name="Shape 124">
            <a:extLst>
              <a:ext uri="{FF2B5EF4-FFF2-40B4-BE49-F238E27FC236}">
                <a16:creationId xmlns:a16="http://schemas.microsoft.com/office/drawing/2014/main" id="{D0CA4627-6441-4804-A004-BFC7AE845FE3}"/>
              </a:ext>
            </a:extLst>
          </p:cNvPr>
          <p:cNvSpPr txBox="1">
            <a:spLocks/>
          </p:cNvSpPr>
          <p:nvPr/>
        </p:nvSpPr>
        <p:spPr>
          <a:xfrm>
            <a:off x="4266193" y="441918"/>
            <a:ext cx="16482720" cy="2176835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hangingPunct="1">
              <a:defRPr sz="11200" b="1" i="1">
                <a:solidFill>
                  <a:schemeClr val="bg2"/>
                </a:solidFill>
                <a:latin typeface="Playfair Display Black"/>
                <a:ea typeface="Playfair Display Black"/>
                <a:cs typeface="Playfair Display Black"/>
              </a:defRPr>
            </a:lvl1pPr>
            <a:lvl2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2pPr>
            <a:lvl3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3pPr>
            <a:lvl4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4pPr>
            <a:lvl5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5pPr>
            <a:lvl6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6pPr>
            <a:lvl7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7pPr>
            <a:lvl8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8pPr>
            <a:lvl9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9pPr>
          </a:lstStyle>
          <a:p>
            <a:r>
              <a:rPr lang="en-US" altLang="ko-KR" dirty="0"/>
              <a:t>Development environment</a:t>
            </a:r>
            <a:endParaRPr lang="en-US" dirty="0"/>
          </a:p>
        </p:txBody>
      </p:sp>
      <p:pic>
        <p:nvPicPr>
          <p:cNvPr id="82" name="Picture 2" descr="https://t1.daumcdn.net/cfile/tistory/266F6A4156A4A68D10">
            <a:extLst>
              <a:ext uri="{FF2B5EF4-FFF2-40B4-BE49-F238E27FC236}">
                <a16:creationId xmlns:a16="http://schemas.microsoft.com/office/drawing/2014/main" id="{CECB5DF7-B245-4994-9381-E5A5D6FF9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76" y1="58403" x2="41176" y2="58403"/>
                        <a14:foregroundMark x1="57983" y1="65966" x2="57983" y2="659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92" y="3184535"/>
            <a:ext cx="2629996" cy="171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4" descr="IntelliJ 프로젝트 소스 디렉토리(src) 설정 방법">
            <a:extLst>
              <a:ext uri="{FF2B5EF4-FFF2-40B4-BE49-F238E27FC236}">
                <a16:creationId xmlns:a16="http://schemas.microsoft.com/office/drawing/2014/main" id="{D39CCDC6-ED9B-4ECC-8A17-1FCDFF180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5387" y1="28495" x2="45387" y2="28495"/>
                        <a14:foregroundMark x1="44280" y1="25806" x2="43173" y2="263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42" y="2641684"/>
            <a:ext cx="2629996" cy="205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6" descr="Download Oracle SQL Developer Logo in SVG Vector or PNG File Format -  Logo.wine">
            <a:extLst>
              <a:ext uri="{FF2B5EF4-FFF2-40B4-BE49-F238E27FC236}">
                <a16:creationId xmlns:a16="http://schemas.microsoft.com/office/drawing/2014/main" id="{9771A667-C5C0-4E80-83B9-F30AA242F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872" y="4402592"/>
            <a:ext cx="2297069" cy="1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인텔 코어 i7-9700K 커피레이크 리프레시[정품(쿨러미포함)]&amp;#39; 최저가 쇼핑 정보 - 에누리가격비교">
            <a:extLst>
              <a:ext uri="{FF2B5EF4-FFF2-40B4-BE49-F238E27FC236}">
                <a16:creationId xmlns:a16="http://schemas.microsoft.com/office/drawing/2014/main" id="{2111C480-EE1A-483F-AF78-088E96E65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8000" y1="26800" x2="48000" y2="26800"/>
                        <a14:foregroundMark x1="42800" y1="43000" x2="42800" y2="4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55" y="5208758"/>
            <a:ext cx="1603788" cy="160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VA란? - 자바 강의 추천">
            <a:extLst>
              <a:ext uri="{FF2B5EF4-FFF2-40B4-BE49-F238E27FC236}">
                <a16:creationId xmlns:a16="http://schemas.microsoft.com/office/drawing/2014/main" id="{5953A0AD-50E6-4BFB-8CCB-BF9800ACC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446" y="2972287"/>
            <a:ext cx="874668" cy="116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자바스크립트(JavaScript) 공부하자">
            <a:extLst>
              <a:ext uri="{FF2B5EF4-FFF2-40B4-BE49-F238E27FC236}">
                <a16:creationId xmlns:a16="http://schemas.microsoft.com/office/drawing/2014/main" id="{C13C2300-32E4-4E55-AE39-309E4298D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4938" y="5752723"/>
            <a:ext cx="1505296" cy="133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ML IMG의 srcset과 sizes 속성(updated) | HEROPY">
            <a:extLst>
              <a:ext uri="{FF2B5EF4-FFF2-40B4-BE49-F238E27FC236}">
                <a16:creationId xmlns:a16="http://schemas.microsoft.com/office/drawing/2014/main" id="{87305E78-B3F3-46BB-A127-ED37CDB61E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3" r="25210"/>
          <a:stretch/>
        </p:blipFill>
        <p:spPr bwMode="auto">
          <a:xfrm>
            <a:off x="17203313" y="5688429"/>
            <a:ext cx="1688342" cy="151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SS Flex(Flexible Box) 완벽 가이드 | HEROPY">
            <a:extLst>
              <a:ext uri="{FF2B5EF4-FFF2-40B4-BE49-F238E27FC236}">
                <a16:creationId xmlns:a16="http://schemas.microsoft.com/office/drawing/2014/main" id="{78348EE3-0E35-4C4B-859E-37B0FDA86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3" r="26145"/>
          <a:stretch/>
        </p:blipFill>
        <p:spPr bwMode="auto">
          <a:xfrm>
            <a:off x="15959689" y="5636797"/>
            <a:ext cx="1925650" cy="156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14F54F1-9EB0-4C54-A0C5-7DA401FDBF5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31330" y="5810125"/>
            <a:ext cx="1430420" cy="143042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4EEC0E54-6B70-428A-A07F-615C2AF36D8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66" y="9907376"/>
            <a:ext cx="1491353" cy="1491353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BD27A8E5-168A-4228-97A8-D86B53350EF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21" y="8644900"/>
            <a:ext cx="1508404" cy="1508404"/>
          </a:xfrm>
          <a:prstGeom prst="rect">
            <a:avLst/>
          </a:prstGeom>
        </p:spPr>
      </p:pic>
      <p:pic>
        <p:nvPicPr>
          <p:cNvPr id="2070" name="Picture 22" descr="부트스트랩 (프런트엔드 프레임워크) - 위키백과, 우리 모두의 백과사전">
            <a:extLst>
              <a:ext uri="{FF2B5EF4-FFF2-40B4-BE49-F238E27FC236}">
                <a16:creationId xmlns:a16="http://schemas.microsoft.com/office/drawing/2014/main" id="{82B79B02-C16E-4B1A-A5FC-FAA6BB94F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48" y="11496680"/>
            <a:ext cx="1176852" cy="9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1630AB8-8E7C-46D2-814A-7310F9EFF1CE}"/>
              </a:ext>
            </a:extLst>
          </p:cNvPr>
          <p:cNvCxnSpPr>
            <a:cxnSpLocks/>
          </p:cNvCxnSpPr>
          <p:nvPr/>
        </p:nvCxnSpPr>
        <p:spPr>
          <a:xfrm>
            <a:off x="10423452" y="2781758"/>
            <a:ext cx="4004115" cy="0"/>
          </a:xfrm>
          <a:prstGeom prst="line">
            <a:avLst/>
          </a:prstGeom>
          <a:ln w="7620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2" name="Picture 24" descr="Ajax - 위키백과, 우리 모두의 백과사전">
            <a:extLst>
              <a:ext uri="{FF2B5EF4-FFF2-40B4-BE49-F238E27FC236}">
                <a16:creationId xmlns:a16="http://schemas.microsoft.com/office/drawing/2014/main" id="{7DAD4D45-34AA-4277-9B05-7A2C19C91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47" y="8974487"/>
            <a:ext cx="1666331" cy="79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C371A27F-CC04-46F9-90A9-3C4B216BCB43}"/>
              </a:ext>
            </a:extLst>
          </p:cNvPr>
          <p:cNvSpPr txBox="1"/>
          <p:nvPr/>
        </p:nvSpPr>
        <p:spPr>
          <a:xfrm>
            <a:off x="1840322" y="3748913"/>
            <a:ext cx="356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Windows</a:t>
            </a:r>
            <a:r>
              <a:rPr lang="ko-KR" altLang="en-US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10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7B9FC9C-D4A3-4AAB-9A0D-BC7161603192}"/>
              </a:ext>
            </a:extLst>
          </p:cNvPr>
          <p:cNvSpPr txBox="1"/>
          <p:nvPr/>
        </p:nvSpPr>
        <p:spPr>
          <a:xfrm>
            <a:off x="1814503" y="5688429"/>
            <a:ext cx="462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Intel Core(TM)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78E3E49-E3A4-42BB-A4B7-45CF4C2502A9}"/>
              </a:ext>
            </a:extLst>
          </p:cNvPr>
          <p:cNvSpPr txBox="1"/>
          <p:nvPr/>
        </p:nvSpPr>
        <p:spPr>
          <a:xfrm>
            <a:off x="17819072" y="3261646"/>
            <a:ext cx="2550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Java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3DFE218-E18C-45A5-893C-C661526E3742}"/>
              </a:ext>
            </a:extLst>
          </p:cNvPr>
          <p:cNvSpPr txBox="1"/>
          <p:nvPr/>
        </p:nvSpPr>
        <p:spPr>
          <a:xfrm>
            <a:off x="33356826" y="2316233"/>
            <a:ext cx="510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Java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074" name="Picture 26" descr="project]외부api xml server side 처리">
            <a:extLst>
              <a:ext uri="{FF2B5EF4-FFF2-40B4-BE49-F238E27FC236}">
                <a16:creationId xmlns:a16="http://schemas.microsoft.com/office/drawing/2014/main" id="{41C721D0-B2DF-42B8-B30C-62E179DB4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133" y="4420162"/>
            <a:ext cx="1133294" cy="10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6CA482EE-B631-4804-9006-08EF9A6D0CEA}"/>
              </a:ext>
            </a:extLst>
          </p:cNvPr>
          <p:cNvSpPr txBox="1"/>
          <p:nvPr/>
        </p:nvSpPr>
        <p:spPr>
          <a:xfrm>
            <a:off x="19444733" y="5810125"/>
            <a:ext cx="2955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CSS/HTML</a:t>
            </a:r>
          </a:p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JavaScript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491AB83-CF6A-4B64-9B54-7C8056067E8E}"/>
              </a:ext>
            </a:extLst>
          </p:cNvPr>
          <p:cNvSpPr txBox="1"/>
          <p:nvPr/>
        </p:nvSpPr>
        <p:spPr>
          <a:xfrm>
            <a:off x="17885339" y="4618081"/>
            <a:ext cx="2550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XML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6751796-AC37-4277-BC9A-6BF18D276889}"/>
              </a:ext>
            </a:extLst>
          </p:cNvPr>
          <p:cNvCxnSpPr>
            <a:cxnSpLocks/>
          </p:cNvCxnSpPr>
          <p:nvPr/>
        </p:nvCxnSpPr>
        <p:spPr>
          <a:xfrm>
            <a:off x="18318172" y="8308896"/>
            <a:ext cx="4004115" cy="0"/>
          </a:xfrm>
          <a:prstGeom prst="line">
            <a:avLst/>
          </a:prstGeom>
          <a:ln w="7620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5A2309A-634D-47BB-AE2A-84BB2F5F5889}"/>
              </a:ext>
            </a:extLst>
          </p:cNvPr>
          <p:cNvSpPr txBox="1"/>
          <p:nvPr/>
        </p:nvSpPr>
        <p:spPr>
          <a:xfrm>
            <a:off x="1410301" y="9075936"/>
            <a:ext cx="356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 err="1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SpringFW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315C1DC-A697-4D27-BF50-FD93300B3DAB}"/>
              </a:ext>
            </a:extLst>
          </p:cNvPr>
          <p:cNvSpPr txBox="1"/>
          <p:nvPr/>
        </p:nvSpPr>
        <p:spPr>
          <a:xfrm>
            <a:off x="1482077" y="10349495"/>
            <a:ext cx="356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 err="1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mybatis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117A459-E168-4BAA-9BE1-9AC362DC18AB}"/>
              </a:ext>
            </a:extLst>
          </p:cNvPr>
          <p:cNvSpPr txBox="1"/>
          <p:nvPr/>
        </p:nvSpPr>
        <p:spPr>
          <a:xfrm>
            <a:off x="1488021" y="11583838"/>
            <a:ext cx="356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Bootstrap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65343A8-B115-49B2-BFBE-81E84E8CEA85}"/>
              </a:ext>
            </a:extLst>
          </p:cNvPr>
          <p:cNvCxnSpPr>
            <a:cxnSpLocks/>
          </p:cNvCxnSpPr>
          <p:nvPr/>
        </p:nvCxnSpPr>
        <p:spPr>
          <a:xfrm>
            <a:off x="18256406" y="2803823"/>
            <a:ext cx="4004115" cy="0"/>
          </a:xfrm>
          <a:prstGeom prst="line">
            <a:avLst/>
          </a:prstGeom>
          <a:ln w="7620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FA57E5AD-EE73-4E94-BF3F-1677A9610E6B}"/>
              </a:ext>
            </a:extLst>
          </p:cNvPr>
          <p:cNvCxnSpPr>
            <a:cxnSpLocks/>
          </p:cNvCxnSpPr>
          <p:nvPr/>
        </p:nvCxnSpPr>
        <p:spPr>
          <a:xfrm>
            <a:off x="10442510" y="8277842"/>
            <a:ext cx="4004115" cy="0"/>
          </a:xfrm>
          <a:prstGeom prst="line">
            <a:avLst/>
          </a:prstGeom>
          <a:ln w="7620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7D219A51-E80A-41A5-927D-A07D04A90B15}"/>
              </a:ext>
            </a:extLst>
          </p:cNvPr>
          <p:cNvCxnSpPr>
            <a:cxnSpLocks/>
          </p:cNvCxnSpPr>
          <p:nvPr/>
        </p:nvCxnSpPr>
        <p:spPr>
          <a:xfrm>
            <a:off x="2435162" y="8317995"/>
            <a:ext cx="4004115" cy="0"/>
          </a:xfrm>
          <a:prstGeom prst="line">
            <a:avLst/>
          </a:prstGeom>
          <a:ln w="76200">
            <a:solidFill>
              <a:srgbClr val="FF8B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4C51B644-F8C6-444B-8213-32EF61824AEA}"/>
              </a:ext>
            </a:extLst>
          </p:cNvPr>
          <p:cNvSpPr txBox="1"/>
          <p:nvPr/>
        </p:nvSpPr>
        <p:spPr>
          <a:xfrm>
            <a:off x="9441249" y="3383531"/>
            <a:ext cx="300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IntelliJ IDEA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AD998CA-9DD5-4CF8-9C72-32A133C364C5}"/>
              </a:ext>
            </a:extLst>
          </p:cNvPr>
          <p:cNvSpPr txBox="1"/>
          <p:nvPr/>
        </p:nvSpPr>
        <p:spPr>
          <a:xfrm>
            <a:off x="9637630" y="4804928"/>
            <a:ext cx="3132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SQL Developer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5188A8-71EC-4B8C-9E7E-F3EE19F10BB9}"/>
              </a:ext>
            </a:extLst>
          </p:cNvPr>
          <p:cNvSpPr txBox="1"/>
          <p:nvPr/>
        </p:nvSpPr>
        <p:spPr>
          <a:xfrm>
            <a:off x="9456339" y="6172998"/>
            <a:ext cx="2297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Gradle</a:t>
            </a:r>
          </a:p>
        </p:txBody>
      </p:sp>
      <p:pic>
        <p:nvPicPr>
          <p:cNvPr id="2076" name="Picture 28" descr="파일:Oracle logo.svg - 위키백과, 우리 모두의 백과사전">
            <a:extLst>
              <a:ext uri="{FF2B5EF4-FFF2-40B4-BE49-F238E27FC236}">
                <a16:creationId xmlns:a16="http://schemas.microsoft.com/office/drawing/2014/main" id="{7B57F2AB-9D34-44BA-A1EA-7435344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823" y="10270765"/>
            <a:ext cx="3727212" cy="52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24EAA53D-6D78-47FA-B360-B4B2B972D603}"/>
              </a:ext>
            </a:extLst>
          </p:cNvPr>
          <p:cNvSpPr txBox="1"/>
          <p:nvPr/>
        </p:nvSpPr>
        <p:spPr>
          <a:xfrm>
            <a:off x="18044088" y="9411459"/>
            <a:ext cx="508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WAS (Apache Tomcat)</a:t>
            </a:r>
          </a:p>
        </p:txBody>
      </p:sp>
      <p:pic>
        <p:nvPicPr>
          <p:cNvPr id="2078" name="Picture 30" descr="아파치 톰캣 - 위키백과, 우리 모두의 백과사전">
            <a:extLst>
              <a:ext uri="{FF2B5EF4-FFF2-40B4-BE49-F238E27FC236}">
                <a16:creationId xmlns:a16="http://schemas.microsoft.com/office/drawing/2014/main" id="{32A4EA25-4B3B-4BF4-8500-EFA3D5FF1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7774" y="9055986"/>
            <a:ext cx="1386064" cy="121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38" descr="Apache HTTPD for Windows - 실전코딩">
            <a:extLst>
              <a:ext uri="{FF2B5EF4-FFF2-40B4-BE49-F238E27FC236}">
                <a16:creationId xmlns:a16="http://schemas.microsoft.com/office/drawing/2014/main" id="{BD73BA57-98A2-4FA3-872D-8D8B71977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3675" y="11157137"/>
            <a:ext cx="2124878" cy="69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2DF5B861-D4B5-430D-A528-4A715CD98EEF}"/>
              </a:ext>
            </a:extLst>
          </p:cNvPr>
          <p:cNvSpPr txBox="1"/>
          <p:nvPr/>
        </p:nvSpPr>
        <p:spPr>
          <a:xfrm>
            <a:off x="18190922" y="10957645"/>
            <a:ext cx="508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Web Server (Apache)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8CF0D40-57D3-41C0-B4D4-9CC3988CEDB4}"/>
              </a:ext>
            </a:extLst>
          </p:cNvPr>
          <p:cNvSpPr txBox="1"/>
          <p:nvPr/>
        </p:nvSpPr>
        <p:spPr>
          <a:xfrm>
            <a:off x="12443243" y="10152331"/>
            <a:ext cx="3379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Oracle XE 11g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60A8CBD-6E7A-4628-97BB-0315C7301C5B}"/>
              </a:ext>
            </a:extLst>
          </p:cNvPr>
          <p:cNvSpPr txBox="1"/>
          <p:nvPr/>
        </p:nvSpPr>
        <p:spPr>
          <a:xfrm>
            <a:off x="5725114" y="9115898"/>
            <a:ext cx="2349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AJAX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55" name="Picture 3" descr="C:\Users\YangWon\Desktop\이양원 조별과제\프로젝트 사용기술 사진\jsp.jpg">
            <a:extLst>
              <a:ext uri="{FF2B5EF4-FFF2-40B4-BE49-F238E27FC236}">
                <a16:creationId xmlns:a16="http://schemas.microsoft.com/office/drawing/2014/main" id="{4F9055AA-AFB5-406D-8307-FB4FE7AA4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5038" y="3181183"/>
            <a:ext cx="1239952" cy="105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D5AC0979-9B9E-4064-8066-4F37A9B63E4D}"/>
              </a:ext>
            </a:extLst>
          </p:cNvPr>
          <p:cNvSpPr txBox="1"/>
          <p:nvPr/>
        </p:nvSpPr>
        <p:spPr>
          <a:xfrm>
            <a:off x="13331614" y="3366724"/>
            <a:ext cx="2550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JSP</a:t>
            </a:r>
            <a:endParaRPr lang="ko-KR" altLang="en-US" sz="3600" b="1" spc="-15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5B4656B-EA3D-427D-AA62-C1284D66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20" y="2199503"/>
            <a:ext cx="20851160" cy="11318789"/>
          </a:xfrm>
          <a:prstGeom prst="rect">
            <a:avLst/>
          </a:prstGeom>
        </p:spPr>
      </p:pic>
      <p:sp>
        <p:nvSpPr>
          <p:cNvPr id="12" name="Shape 124">
            <a:extLst>
              <a:ext uri="{FF2B5EF4-FFF2-40B4-BE49-F238E27FC236}">
                <a16:creationId xmlns:a16="http://schemas.microsoft.com/office/drawing/2014/main" id="{723A416F-66B5-433F-9433-2063EDFFFDBB}"/>
              </a:ext>
            </a:extLst>
          </p:cNvPr>
          <p:cNvSpPr txBox="1">
            <a:spLocks/>
          </p:cNvSpPr>
          <p:nvPr/>
        </p:nvSpPr>
        <p:spPr>
          <a:xfrm>
            <a:off x="4266193" y="441918"/>
            <a:ext cx="16482720" cy="2176835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hangingPunct="1">
              <a:defRPr sz="11200" b="1" i="1">
                <a:solidFill>
                  <a:schemeClr val="bg2"/>
                </a:solidFill>
                <a:latin typeface="Playfair Display Black"/>
                <a:ea typeface="Playfair Display Black"/>
                <a:cs typeface="Playfair Display Black"/>
              </a:defRPr>
            </a:lvl1pPr>
            <a:lvl2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2pPr>
            <a:lvl3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3pPr>
            <a:lvl4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4pPr>
            <a:lvl5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5pPr>
            <a:lvl6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6pPr>
            <a:lvl7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7pPr>
            <a:lvl8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8pPr>
            <a:lvl9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9pPr>
          </a:lstStyle>
          <a:p>
            <a:r>
              <a:rPr lang="en-US" dirty="0"/>
              <a:t>Class Diagram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EFBA4-5BB8-462B-8E3B-F5504E13FB16}"/>
              </a:ext>
            </a:extLst>
          </p:cNvPr>
          <p:cNvSpPr txBox="1"/>
          <p:nvPr/>
        </p:nvSpPr>
        <p:spPr>
          <a:xfrm>
            <a:off x="696449" y="2199503"/>
            <a:ext cx="356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spc="-150" dirty="0">
                <a:solidFill>
                  <a:srgbClr val="FF8B5F"/>
                </a:solidFill>
                <a:latin typeface="+mj-ea"/>
                <a:ea typeface="+mj-ea"/>
              </a:rPr>
              <a:t>ERD</a:t>
            </a:r>
            <a:endParaRPr lang="ko-KR" altLang="en-US" sz="4800" b="1" spc="-150" dirty="0">
              <a:solidFill>
                <a:srgbClr val="FF8B5F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4">
            <a:extLst>
              <a:ext uri="{FF2B5EF4-FFF2-40B4-BE49-F238E27FC236}">
                <a16:creationId xmlns:a16="http://schemas.microsoft.com/office/drawing/2014/main" id="{723A416F-66B5-433F-9433-2063EDFFFDBB}"/>
              </a:ext>
            </a:extLst>
          </p:cNvPr>
          <p:cNvSpPr txBox="1">
            <a:spLocks/>
          </p:cNvSpPr>
          <p:nvPr/>
        </p:nvSpPr>
        <p:spPr>
          <a:xfrm>
            <a:off x="4266193" y="441918"/>
            <a:ext cx="16482720" cy="2176835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hangingPunct="1">
              <a:defRPr sz="11200" b="1" i="1">
                <a:solidFill>
                  <a:schemeClr val="bg2"/>
                </a:solidFill>
                <a:latin typeface="Playfair Display Black"/>
                <a:ea typeface="Playfair Display Black"/>
                <a:cs typeface="Playfair Display Black"/>
              </a:defRPr>
            </a:lvl1pPr>
            <a:lvl2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2pPr>
            <a:lvl3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3pPr>
            <a:lvl4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4pPr>
            <a:lvl5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5pPr>
            <a:lvl6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6pPr>
            <a:lvl7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7pPr>
            <a:lvl8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8pPr>
            <a:lvl9pPr algn="ctr">
              <a:defRPr sz="11200" i="1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</a:defRPr>
            </a:lvl9pPr>
          </a:lstStyle>
          <a:p>
            <a:r>
              <a:rPr lang="en-US" dirty="0" err="1"/>
              <a:t>Usecase</a:t>
            </a:r>
            <a:r>
              <a:rPr lang="en-US" dirty="0"/>
              <a:t> Diagram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011EB6-7CE4-41A4-98FF-6E44B51DD3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91" r="1998" b="5364"/>
          <a:stretch/>
        </p:blipFill>
        <p:spPr>
          <a:xfrm>
            <a:off x="1089714" y="2861186"/>
            <a:ext cx="22204572" cy="100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4591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8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1" y="3467101"/>
            <a:ext cx="2771913" cy="621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98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rPr>
              <a:t>3</a:t>
            </a:r>
            <a:endParaRPr lang="ko-KR" altLang="en-US" sz="39800" b="1" dirty="0">
              <a:solidFill>
                <a:schemeClr val="accent4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36168" y="5688450"/>
            <a:ext cx="36535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400" dirty="0">
                <a:solidFill>
                  <a:schemeClr val="accent4">
                    <a:lumMod val="20000"/>
                    <a:lumOff val="80000"/>
                  </a:schemeClr>
                </a:solidFill>
                <a:latin typeface="+mn-ea"/>
              </a:rPr>
              <a:t>기능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669" y="6902787"/>
            <a:ext cx="9278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file</a:t>
            </a:r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업로드</a:t>
            </a:r>
            <a:r>
              <a:rPr lang="en-US" altLang="ko-KR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 </a:t>
            </a:r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판매 게시판</a:t>
            </a:r>
            <a:r>
              <a:rPr lang="en-US" altLang="ko-KR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</a:t>
            </a:r>
            <a:r>
              <a:rPr lang="ko-KR" altLang="en-US" sz="2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회원가입 등 다양한 기능을 구현</a:t>
            </a:r>
            <a:endParaRPr lang="en-US" altLang="ko-KR" sz="2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622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00240F0-5870-4FD1-B4B8-EAF1666DA027}"/>
              </a:ext>
            </a:extLst>
          </p:cNvPr>
          <p:cNvGrpSpPr/>
          <p:nvPr/>
        </p:nvGrpSpPr>
        <p:grpSpPr>
          <a:xfrm>
            <a:off x="2299919" y="9302754"/>
            <a:ext cx="4351932" cy="1635646"/>
            <a:chOff x="1418770" y="9338761"/>
            <a:chExt cx="4351932" cy="1635646"/>
          </a:xfrm>
        </p:grpSpPr>
        <p:sp>
          <p:nvSpPr>
            <p:cNvPr id="432" name="Shape 432"/>
            <p:cNvSpPr/>
            <p:nvPr/>
          </p:nvSpPr>
          <p:spPr>
            <a:xfrm>
              <a:off x="1655274" y="9338761"/>
              <a:ext cx="3878924" cy="477054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EC2661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en-US" sz="2600" b="1" dirty="0"/>
                <a:t>USER CLASS</a:t>
              </a:r>
              <a:endParaRPr sz="2600" b="1" dirty="0"/>
            </a:p>
          </p:txBody>
        </p:sp>
        <p:sp>
          <p:nvSpPr>
            <p:cNvPr id="433" name="Shape 433"/>
            <p:cNvSpPr/>
            <p:nvPr/>
          </p:nvSpPr>
          <p:spPr>
            <a:xfrm>
              <a:off x="1418770" y="9889117"/>
              <a:ext cx="4351932" cy="1085290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38100" tIns="38100" rIns="38100" bIns="38100">
              <a:normAutofit/>
            </a:bodyPr>
            <a:lstStyle>
              <a:lvl1pPr algn="ctr"/>
            </a:lstStyle>
            <a:p>
              <a:pPr>
                <a:lnSpc>
                  <a:spcPct val="150000"/>
                </a:lnSpc>
              </a:pPr>
              <a:r>
                <a:rPr lang="ko-KR" altLang="en-US" b="1" dirty="0"/>
                <a:t>회원 가입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카카오 로그인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프로필 수정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로그인 검증 등 </a:t>
              </a:r>
              <a:endParaRPr b="1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DB43AE0-9F46-4494-84E7-7984504AA0EE}"/>
              </a:ext>
            </a:extLst>
          </p:cNvPr>
          <p:cNvGrpSpPr/>
          <p:nvPr/>
        </p:nvGrpSpPr>
        <p:grpSpPr>
          <a:xfrm>
            <a:off x="9729703" y="8748578"/>
            <a:ext cx="4692255" cy="1635645"/>
            <a:chOff x="7234975" y="10597810"/>
            <a:chExt cx="4351931" cy="1635645"/>
          </a:xfrm>
        </p:grpSpPr>
        <p:sp>
          <p:nvSpPr>
            <p:cNvPr id="435" name="Shape 435"/>
            <p:cNvSpPr/>
            <p:nvPr/>
          </p:nvSpPr>
          <p:spPr>
            <a:xfrm>
              <a:off x="7471478" y="10597810"/>
              <a:ext cx="3878924" cy="477054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EC2661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en-US" sz="2600" b="1" dirty="0"/>
                <a:t>BOARD</a:t>
              </a:r>
              <a:endParaRPr sz="2600" b="1" dirty="0"/>
            </a:p>
          </p:txBody>
        </p:sp>
        <p:sp>
          <p:nvSpPr>
            <p:cNvPr id="436" name="Shape 436"/>
            <p:cNvSpPr/>
            <p:nvPr/>
          </p:nvSpPr>
          <p:spPr>
            <a:xfrm>
              <a:off x="7234975" y="11148165"/>
              <a:ext cx="4351931" cy="1085290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38100" tIns="38100" rIns="38100" bIns="38100">
              <a:normAutofit/>
            </a:bodyPr>
            <a:lstStyle>
              <a:lvl1pPr algn="ctr"/>
            </a:lstStyle>
            <a:p>
              <a:pPr>
                <a:lnSpc>
                  <a:spcPct val="150000"/>
                </a:lnSpc>
              </a:pPr>
              <a:r>
                <a:rPr lang="ko-KR" altLang="en-US" b="1" dirty="0"/>
                <a:t> 글 작성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수정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삭제</a:t>
              </a:r>
              <a:r>
                <a:rPr lang="en-US" altLang="ko-KR" b="1" dirty="0"/>
                <a:t>, </a:t>
              </a:r>
              <a:r>
                <a:rPr lang="ko-KR" altLang="en-US" b="1" dirty="0"/>
                <a:t>파일 업로드 등</a:t>
              </a:r>
              <a:endParaRPr b="1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A6F1EF-4A69-44BC-9FE8-11FC066CFC0B}"/>
              </a:ext>
            </a:extLst>
          </p:cNvPr>
          <p:cNvGrpSpPr/>
          <p:nvPr/>
        </p:nvGrpSpPr>
        <p:grpSpPr>
          <a:xfrm>
            <a:off x="17499810" y="9298933"/>
            <a:ext cx="4351931" cy="1838030"/>
            <a:chOff x="18396197" y="10597810"/>
            <a:chExt cx="4351931" cy="1838030"/>
          </a:xfrm>
        </p:grpSpPr>
        <p:sp>
          <p:nvSpPr>
            <p:cNvPr id="438" name="Shape 438"/>
            <p:cNvSpPr/>
            <p:nvPr/>
          </p:nvSpPr>
          <p:spPr>
            <a:xfrm>
              <a:off x="18632700" y="10597810"/>
              <a:ext cx="3878924" cy="477054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38100" tIns="38100" rIns="38100" bIns="38100" anchor="ctr">
              <a:spAutoFit/>
            </a:bodyPr>
            <a:lstStyle>
              <a:lvl1pPr algn="ctr">
                <a:defRPr sz="1800" cap="all" spc="360">
                  <a:solidFill>
                    <a:srgbClr val="EC2661"/>
                  </a:solidFill>
                  <a:latin typeface="+mn-lt"/>
                  <a:ea typeface="+mn-ea"/>
                  <a:cs typeface="+mn-cs"/>
                  <a:sym typeface="Montserrat-Regular"/>
                </a:defRPr>
              </a:lvl1pPr>
            </a:lstStyle>
            <a:p>
              <a:r>
                <a:rPr lang="en-US" sz="2600" b="1" dirty="0"/>
                <a:t>WEB CHATTING</a:t>
              </a:r>
              <a:endParaRPr sz="2600" b="1" dirty="0"/>
            </a:p>
          </p:txBody>
        </p:sp>
        <p:sp>
          <p:nvSpPr>
            <p:cNvPr id="439" name="Shape 439"/>
            <p:cNvSpPr/>
            <p:nvPr/>
          </p:nvSpPr>
          <p:spPr>
            <a:xfrm>
              <a:off x="18396197" y="11148166"/>
              <a:ext cx="4351931" cy="1287674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38100" tIns="38100" rIns="38100" bIns="38100">
              <a:normAutofit/>
            </a:bodyPr>
            <a:lstStyle>
              <a:lvl1pPr algn="ctr"/>
            </a:lstStyle>
            <a:p>
              <a:pPr>
                <a:lnSpc>
                  <a:spcPct val="150000"/>
                </a:lnSpc>
              </a:pPr>
              <a:r>
                <a:rPr lang="en-US" altLang="ko-KR" b="1" dirty="0"/>
                <a:t>WEB SOCKET </a:t>
              </a:r>
              <a:r>
                <a:rPr lang="ko-KR" altLang="en-US" b="1" dirty="0"/>
                <a:t>연결</a:t>
              </a:r>
              <a:r>
                <a:rPr lang="en-US" altLang="ko-KR" b="1" dirty="0"/>
                <a:t>, MESSAGE </a:t>
              </a:r>
              <a:r>
                <a:rPr lang="ko-KR" altLang="en-US" b="1" dirty="0"/>
                <a:t>전송</a:t>
              </a:r>
              <a:r>
                <a:rPr lang="en-US" altLang="ko-KR" b="1" dirty="0"/>
                <a:t>, MESSAGE </a:t>
              </a:r>
              <a:r>
                <a:rPr lang="ko-KR" altLang="en-US" b="1" dirty="0"/>
                <a:t>받기 등</a:t>
              </a:r>
              <a:r>
                <a:rPr lang="en-US" altLang="ko-KR" b="1" dirty="0"/>
                <a:t> </a:t>
              </a:r>
              <a:endParaRPr b="1" dirty="0"/>
            </a:p>
          </p:txBody>
        </p:sp>
      </p:grpSp>
      <p:sp>
        <p:nvSpPr>
          <p:cNvPr id="22" name="Shape 74">
            <a:extLst>
              <a:ext uri="{FF2B5EF4-FFF2-40B4-BE49-F238E27FC236}">
                <a16:creationId xmlns:a16="http://schemas.microsoft.com/office/drawing/2014/main" id="{C5487CAB-56FE-4085-B6FF-3B6DF37F04A4}"/>
              </a:ext>
            </a:extLst>
          </p:cNvPr>
          <p:cNvSpPr txBox="1">
            <a:spLocks/>
          </p:cNvSpPr>
          <p:nvPr/>
        </p:nvSpPr>
        <p:spPr>
          <a:xfrm>
            <a:off x="353936" y="1097386"/>
            <a:ext cx="5552606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D7DFB63-A819-4C03-841B-42B731881690}"/>
              </a:ext>
            </a:extLst>
          </p:cNvPr>
          <p:cNvGrpSpPr/>
          <p:nvPr/>
        </p:nvGrpSpPr>
        <p:grpSpPr>
          <a:xfrm>
            <a:off x="2299919" y="4476991"/>
            <a:ext cx="4823118" cy="4271587"/>
            <a:chOff x="1000297" y="3196641"/>
            <a:chExt cx="4823118" cy="427158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1FB88D-D2FC-45EB-BDD8-464E6EF4D8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726" t="35477" r="819" b="35068"/>
            <a:stretch/>
          </p:blipFill>
          <p:spPr>
            <a:xfrm>
              <a:off x="2598077" y="3196641"/>
              <a:ext cx="3225338" cy="359109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3F406A1-448F-4EB9-9E1E-334CD38964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63" t="35477" r="33842" b="35068"/>
            <a:stretch/>
          </p:blipFill>
          <p:spPr>
            <a:xfrm>
              <a:off x="1000297" y="3877129"/>
              <a:ext cx="3754583" cy="3591099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13AAC21-29AA-41D0-A067-7E7DC18A3733}"/>
              </a:ext>
            </a:extLst>
          </p:cNvPr>
          <p:cNvGrpSpPr/>
          <p:nvPr/>
        </p:nvGrpSpPr>
        <p:grpSpPr>
          <a:xfrm rot="20205012">
            <a:off x="9901755" y="3742821"/>
            <a:ext cx="3407491" cy="3955704"/>
            <a:chOff x="7471477" y="4659871"/>
            <a:chExt cx="2936057" cy="359698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81C6E8B-D426-42C4-9406-1BF80C3368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0278" b="60000" l="3828" r="187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7" t="18363" r="78545" b="37515"/>
            <a:stretch/>
          </p:blipFill>
          <p:spPr>
            <a:xfrm>
              <a:off x="7471477" y="4659871"/>
              <a:ext cx="2936057" cy="359698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DECFF1A-6CEF-4CE8-A470-6E1A5DAB4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9883" y="5450556"/>
              <a:ext cx="947651" cy="1895302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7B71A698-2AC4-40A4-8CC0-2725ABC4A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1367" y="5308910"/>
            <a:ext cx="5408815" cy="343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9157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74">
            <a:extLst>
              <a:ext uri="{FF2B5EF4-FFF2-40B4-BE49-F238E27FC236}">
                <a16:creationId xmlns:a16="http://schemas.microsoft.com/office/drawing/2014/main" id="{C5487CAB-56FE-4085-B6FF-3B6DF37F04A4}"/>
              </a:ext>
            </a:extLst>
          </p:cNvPr>
          <p:cNvSpPr txBox="1">
            <a:spLocks/>
          </p:cNvSpPr>
          <p:nvPr/>
        </p:nvSpPr>
        <p:spPr>
          <a:xfrm>
            <a:off x="353935" y="518505"/>
            <a:ext cx="7110893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altLang="ko-KR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USER CLASS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EE69A7C-77ED-48DB-B72B-95DB40E3073A}"/>
              </a:ext>
            </a:extLst>
          </p:cNvPr>
          <p:cNvGrpSpPr/>
          <p:nvPr/>
        </p:nvGrpSpPr>
        <p:grpSpPr>
          <a:xfrm>
            <a:off x="9501129" y="3424844"/>
            <a:ext cx="14036531" cy="8804356"/>
            <a:chOff x="8603354" y="3142211"/>
            <a:chExt cx="14036531" cy="880435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5E45FC9-5767-4FB8-A9BC-622FB9548ED5}"/>
                </a:ext>
              </a:extLst>
            </p:cNvPr>
            <p:cNvGrpSpPr/>
            <p:nvPr/>
          </p:nvGrpSpPr>
          <p:grpSpPr>
            <a:xfrm>
              <a:off x="8603354" y="3142211"/>
              <a:ext cx="2897264" cy="1539034"/>
              <a:chOff x="3520223" y="3358342"/>
              <a:chExt cx="2897264" cy="1197033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B2AC8BF-268C-4F28-A6B5-1499509399C9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C35100-7602-430B-8E64-1D5EDC0F67B6}"/>
                  </a:ext>
                </a:extLst>
              </p:cNvPr>
              <p:cNvSpPr txBox="1"/>
              <p:nvPr/>
            </p:nvSpPr>
            <p:spPr>
              <a:xfrm>
                <a:off x="3899933" y="3789290"/>
                <a:ext cx="2193641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회원 가입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ACF3977-3CB6-4EAF-A910-D48C81ABEC2F}"/>
                </a:ext>
              </a:extLst>
            </p:cNvPr>
            <p:cNvGrpSpPr/>
            <p:nvPr/>
          </p:nvGrpSpPr>
          <p:grpSpPr>
            <a:xfrm>
              <a:off x="8603354" y="6290905"/>
              <a:ext cx="2897264" cy="1539034"/>
              <a:chOff x="3520223" y="3358342"/>
              <a:chExt cx="2897264" cy="1197033"/>
            </a:xfrm>
          </p:grpSpPr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384093C4-02D0-41CF-905E-A8C78BF3A2D1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BF361D-7A73-4194-9DE8-880DE3C7A2BF}"/>
                  </a:ext>
                </a:extLst>
              </p:cNvPr>
              <p:cNvSpPr txBox="1"/>
              <p:nvPr/>
            </p:nvSpPr>
            <p:spPr>
              <a:xfrm>
                <a:off x="3899933" y="3677506"/>
                <a:ext cx="2193641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b="1" dirty="0">
                    <a:solidFill>
                      <a:schemeClr val="bg1"/>
                    </a:solidFill>
                  </a:rPr>
                  <a:t>DB</a:t>
                </a:r>
                <a:r>
                  <a:rPr lang="ko-KR" altLang="en-US" b="1" dirty="0">
                    <a:solidFill>
                      <a:schemeClr val="bg1"/>
                    </a:solidFill>
                  </a:rPr>
                  <a:t>에 회원 정보 저장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D6326782-397E-4F24-AC0C-F135FA152B09}"/>
                </a:ext>
              </a:extLst>
            </p:cNvPr>
            <p:cNvCxnSpPr>
              <a:cxnSpLocks/>
              <a:stCxn id="5" idx="2"/>
              <a:endCxn id="21" idx="0"/>
            </p:cNvCxnSpPr>
            <p:nvPr/>
          </p:nvCxnSpPr>
          <p:spPr>
            <a:xfrm>
              <a:off x="10051986" y="4681245"/>
              <a:ext cx="0" cy="1609660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558509F-33AC-4733-BFC9-3DA848EB46CF}"/>
                </a:ext>
              </a:extLst>
            </p:cNvPr>
            <p:cNvGrpSpPr/>
            <p:nvPr/>
          </p:nvGrpSpPr>
          <p:grpSpPr>
            <a:xfrm>
              <a:off x="15245540" y="3142211"/>
              <a:ext cx="2897264" cy="1539034"/>
              <a:chOff x="2381697" y="3358342"/>
              <a:chExt cx="2897264" cy="1197033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33EF13AF-1B3D-4434-834C-BC2743F37144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5CAAD53-2238-4D19-AFFD-92BB795B8B37}"/>
                  </a:ext>
                </a:extLst>
              </p:cNvPr>
              <p:cNvSpPr txBox="1"/>
              <p:nvPr/>
            </p:nvSpPr>
            <p:spPr>
              <a:xfrm>
                <a:off x="2941324" y="3789290"/>
                <a:ext cx="1778009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>
                    <a:solidFill>
                      <a:schemeClr val="bg1"/>
                    </a:solidFill>
                  </a:rPr>
                  <a:t>로그인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36DE9B55-57F2-4DB3-80C4-ADFCC57E127B}"/>
                </a:ext>
              </a:extLst>
            </p:cNvPr>
            <p:cNvGrpSpPr/>
            <p:nvPr/>
          </p:nvGrpSpPr>
          <p:grpSpPr>
            <a:xfrm>
              <a:off x="15245540" y="6290905"/>
              <a:ext cx="2897264" cy="1539034"/>
              <a:chOff x="2381697" y="3358342"/>
              <a:chExt cx="2897264" cy="1197033"/>
            </a:xfrm>
          </p:grpSpPr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76AE7B68-E9D1-40EE-8CE0-1621D5A6AD85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1699ADF-7A1D-46D2-B29B-93F5560B6F54}"/>
                  </a:ext>
                </a:extLst>
              </p:cNvPr>
              <p:cNvSpPr txBox="1"/>
              <p:nvPr/>
            </p:nvSpPr>
            <p:spPr>
              <a:xfrm>
                <a:off x="2760801" y="3651645"/>
                <a:ext cx="2139053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로그인 정보 검증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ABB0D3C-5CF5-45EA-9250-A53771ECBE18}"/>
                </a:ext>
              </a:extLst>
            </p:cNvPr>
            <p:cNvGrpSpPr/>
            <p:nvPr/>
          </p:nvGrpSpPr>
          <p:grpSpPr>
            <a:xfrm>
              <a:off x="15245540" y="10407533"/>
              <a:ext cx="2897264" cy="1539034"/>
              <a:chOff x="2381697" y="3358342"/>
              <a:chExt cx="2897264" cy="1197033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A7179144-436B-4DDC-9B97-A5BAD0D44479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62559B-AD5D-40F0-90F3-B015AFAECFEB}"/>
                  </a:ext>
                </a:extLst>
              </p:cNvPr>
              <p:cNvSpPr txBox="1"/>
              <p:nvPr/>
            </p:nvSpPr>
            <p:spPr>
              <a:xfrm>
                <a:off x="2760801" y="3789290"/>
                <a:ext cx="2139053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로그인 성공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1868B7B9-D953-43EE-BC72-7CEBB536786B}"/>
                </a:ext>
              </a:extLst>
            </p:cNvPr>
            <p:cNvCxnSpPr>
              <a:cxnSpLocks/>
              <a:stCxn id="35" idx="2"/>
              <a:endCxn id="38" idx="0"/>
            </p:cNvCxnSpPr>
            <p:nvPr/>
          </p:nvCxnSpPr>
          <p:spPr>
            <a:xfrm>
              <a:off x="16694172" y="4681245"/>
              <a:ext cx="0" cy="1609660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6FA7C5A-8DA8-4B5B-BA8C-AA8EDED14963}"/>
                </a:ext>
              </a:extLst>
            </p:cNvPr>
            <p:cNvCxnSpPr>
              <a:cxnSpLocks/>
              <a:stCxn id="38" idx="2"/>
              <a:endCxn id="41" idx="0"/>
            </p:cNvCxnSpPr>
            <p:nvPr/>
          </p:nvCxnSpPr>
          <p:spPr>
            <a:xfrm>
              <a:off x="16694172" y="7829939"/>
              <a:ext cx="0" cy="2577594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E0815A3-2B9C-4F75-86FD-2B65B20076E6}"/>
                </a:ext>
              </a:extLst>
            </p:cNvPr>
            <p:cNvSpPr txBox="1"/>
            <p:nvPr/>
          </p:nvSpPr>
          <p:spPr>
            <a:xfrm>
              <a:off x="17259481" y="8515678"/>
              <a:ext cx="2897264" cy="126188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3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rPr>
                <a:t>YES</a:t>
              </a:r>
            </a:p>
            <a:p>
              <a:pPr marL="0" marR="0" indent="0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22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rPr>
                <a:t>검증 정보가 일치하면 로그인 성공</a:t>
              </a:r>
            </a:p>
          </p:txBody>
        </p: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0A7EAA7A-B1FA-40B7-9A3E-BB079836C2C2}"/>
                </a:ext>
              </a:extLst>
            </p:cNvPr>
            <p:cNvCxnSpPr>
              <a:cxnSpLocks/>
              <a:stCxn id="38" idx="3"/>
              <a:endCxn id="35" idx="3"/>
            </p:cNvCxnSpPr>
            <p:nvPr/>
          </p:nvCxnSpPr>
          <p:spPr>
            <a:xfrm flipV="1">
              <a:off x="18142804" y="3911728"/>
              <a:ext cx="12700" cy="3148694"/>
            </a:xfrm>
            <a:prstGeom prst="bentConnector3">
              <a:avLst>
                <a:gd name="adj1" fmla="val 1083274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65463E9-C277-418C-8524-54397F439DC5}"/>
                </a:ext>
              </a:extLst>
            </p:cNvPr>
            <p:cNvSpPr txBox="1"/>
            <p:nvPr/>
          </p:nvSpPr>
          <p:spPr>
            <a:xfrm>
              <a:off x="20156745" y="4672932"/>
              <a:ext cx="2483140" cy="1600438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3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rPr>
                <a:t>NO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22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rPr>
                <a:t>검증 정보가 일치하지 </a:t>
              </a:r>
              <a:r>
                <a:rPr lang="ko-KR" altLang="en-US" sz="2200" b="1" dirty="0">
                  <a:solidFill>
                    <a:schemeClr val="bg1"/>
                  </a:solidFill>
                </a:rPr>
                <a:t>않으면 로그인 실패</a:t>
              </a:r>
              <a:endParaRPr kumimoji="0" lang="ko-KR" altLang="en-US" sz="22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T Sans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67" name="Shape 96">
            <a:extLst>
              <a:ext uri="{FF2B5EF4-FFF2-40B4-BE49-F238E27FC236}">
                <a16:creationId xmlns:a16="http://schemas.microsoft.com/office/drawing/2014/main" id="{48B45964-06F7-4017-ABC4-636269DC8BA5}"/>
              </a:ext>
            </a:extLst>
          </p:cNvPr>
          <p:cNvSpPr/>
          <p:nvPr/>
        </p:nvSpPr>
        <p:spPr>
          <a:xfrm>
            <a:off x="1211957" y="8530191"/>
            <a:ext cx="7110893" cy="43199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/>
              <a:t> 사용자가 회원 가입 요청을 보낼 시 </a:t>
            </a:r>
            <a:r>
              <a:rPr lang="en-US" altLang="ko-KR" b="1" dirty="0"/>
              <a:t>DB </a:t>
            </a:r>
            <a:r>
              <a:rPr lang="ko-KR" altLang="en-US" b="1" dirty="0"/>
              <a:t>회원 테이블에 해당 데이터를 저장합니다</a:t>
            </a:r>
            <a:r>
              <a:rPr lang="en-US" altLang="ko-KR" b="1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</a:t>
            </a:r>
            <a:r>
              <a:rPr lang="ko-KR" altLang="en-US" b="1" dirty="0"/>
              <a:t>이후 로그인 요청과 함께 받아온 사용자 정보를 기반으로 </a:t>
            </a:r>
            <a:r>
              <a:rPr lang="en-US" altLang="ko-KR" b="1" dirty="0"/>
              <a:t>DB</a:t>
            </a:r>
            <a:r>
              <a:rPr lang="ko-KR" altLang="en-US" b="1" dirty="0"/>
              <a:t>에 있는 사용자 정보와 일치하는 여부를 판단한 후 정보가 일치한다면 </a:t>
            </a:r>
            <a:endParaRPr lang="en-US" altLang="ko-KR" b="1" dirty="0"/>
          </a:p>
          <a:p>
            <a:pPr algn="just">
              <a:lnSpc>
                <a:spcPct val="150000"/>
              </a:lnSpc>
            </a:pPr>
            <a:r>
              <a:rPr lang="ko-KR" altLang="en-US" b="1" dirty="0"/>
              <a:t>로그인 성공 처리를 진행하고 정보가 일치하지 않는다면 로그인 실패 처리를 진행합니다</a:t>
            </a:r>
            <a:r>
              <a:rPr lang="en-US" altLang="ko-KR" b="1" dirty="0"/>
              <a:t>.</a:t>
            </a:r>
            <a:endParaRPr b="1" dirty="0"/>
          </a:p>
        </p:txBody>
      </p:sp>
      <p:sp>
        <p:nvSpPr>
          <p:cNvPr id="69" name="Shape 79">
            <a:extLst>
              <a:ext uri="{FF2B5EF4-FFF2-40B4-BE49-F238E27FC236}">
                <a16:creationId xmlns:a16="http://schemas.microsoft.com/office/drawing/2014/main" id="{2E2C9462-636A-4A85-AC93-9F10A446EE15}"/>
              </a:ext>
            </a:extLst>
          </p:cNvPr>
          <p:cNvSpPr txBox="1">
            <a:spLocks/>
          </p:cNvSpPr>
          <p:nvPr/>
        </p:nvSpPr>
        <p:spPr>
          <a:xfrm>
            <a:off x="913420" y="7404560"/>
            <a:ext cx="3591097" cy="1042504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5500" b="1" i="0" dirty="0"/>
              <a:t>상세 설명</a:t>
            </a:r>
            <a:endParaRPr lang="en-US" sz="55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33290F4-14EF-4453-900D-58A1C674419F}"/>
              </a:ext>
            </a:extLst>
          </p:cNvPr>
          <p:cNvCxnSpPr>
            <a:cxnSpLocks/>
            <a:stCxn id="21" idx="3"/>
            <a:endCxn id="38" idx="1"/>
          </p:cNvCxnSpPr>
          <p:nvPr/>
        </p:nvCxnSpPr>
        <p:spPr>
          <a:xfrm>
            <a:off x="12398393" y="7343055"/>
            <a:ext cx="3744922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8343493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74">
            <a:extLst>
              <a:ext uri="{FF2B5EF4-FFF2-40B4-BE49-F238E27FC236}">
                <a16:creationId xmlns:a16="http://schemas.microsoft.com/office/drawing/2014/main" id="{C5487CAB-56FE-4085-B6FF-3B6DF37F04A4}"/>
              </a:ext>
            </a:extLst>
          </p:cNvPr>
          <p:cNvSpPr txBox="1">
            <a:spLocks/>
          </p:cNvSpPr>
          <p:nvPr/>
        </p:nvSpPr>
        <p:spPr>
          <a:xfrm>
            <a:off x="353935" y="518505"/>
            <a:ext cx="7925541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altLang="ko-KR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BOARD CLASS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350C2324-0C5B-4500-A9C4-97B266A63D4A}"/>
              </a:ext>
            </a:extLst>
          </p:cNvPr>
          <p:cNvGrpSpPr/>
          <p:nvPr/>
        </p:nvGrpSpPr>
        <p:grpSpPr>
          <a:xfrm>
            <a:off x="8669849" y="2154338"/>
            <a:ext cx="14958173" cy="8871751"/>
            <a:chOff x="7755449" y="1738701"/>
            <a:chExt cx="14958173" cy="887175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ACF3977-3CB6-4EAF-A910-D48C81ABEC2F}"/>
                </a:ext>
              </a:extLst>
            </p:cNvPr>
            <p:cNvGrpSpPr/>
            <p:nvPr/>
          </p:nvGrpSpPr>
          <p:grpSpPr>
            <a:xfrm>
              <a:off x="16574597" y="9071418"/>
              <a:ext cx="2897264" cy="1539034"/>
              <a:chOff x="3520223" y="3358342"/>
              <a:chExt cx="2897264" cy="1197033"/>
            </a:xfrm>
          </p:grpSpPr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384093C4-02D0-41CF-905E-A8C78BF3A2D1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BF361D-7A73-4194-9DE8-880DE3C7A2BF}"/>
                  </a:ext>
                </a:extLst>
              </p:cNvPr>
              <p:cNvSpPr txBox="1"/>
              <p:nvPr/>
            </p:nvSpPr>
            <p:spPr>
              <a:xfrm>
                <a:off x="3899933" y="3677506"/>
                <a:ext cx="2193641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b="1" dirty="0">
                    <a:solidFill>
                      <a:schemeClr val="bg1"/>
                    </a:solidFill>
                  </a:rPr>
                  <a:t>DB</a:t>
                </a:r>
                <a:r>
                  <a:rPr lang="ko-KR" altLang="en-US" b="1" dirty="0">
                    <a:solidFill>
                      <a:schemeClr val="bg1"/>
                    </a:solidFill>
                  </a:rPr>
                  <a:t>에 글 관련 정보 저장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5E45FC9-5767-4FB8-A9BC-622FB9548ED5}"/>
                </a:ext>
              </a:extLst>
            </p:cNvPr>
            <p:cNvGrpSpPr/>
            <p:nvPr/>
          </p:nvGrpSpPr>
          <p:grpSpPr>
            <a:xfrm>
              <a:off x="13642574" y="1738701"/>
              <a:ext cx="2897264" cy="1539034"/>
              <a:chOff x="3520223" y="3358342"/>
              <a:chExt cx="2897264" cy="1197033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B2AC8BF-268C-4F28-A6B5-1499509399C9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C35100-7602-430B-8E64-1D5EDC0F67B6}"/>
                  </a:ext>
                </a:extLst>
              </p:cNvPr>
              <p:cNvSpPr txBox="1"/>
              <p:nvPr/>
            </p:nvSpPr>
            <p:spPr>
              <a:xfrm>
                <a:off x="3787851" y="3802221"/>
                <a:ext cx="2338973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글 목록 불러오기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558509F-33AC-4733-BFC9-3DA848EB46CF}"/>
                </a:ext>
              </a:extLst>
            </p:cNvPr>
            <p:cNvGrpSpPr/>
            <p:nvPr/>
          </p:nvGrpSpPr>
          <p:grpSpPr>
            <a:xfrm>
              <a:off x="11775752" y="5680964"/>
              <a:ext cx="2897264" cy="1539034"/>
              <a:chOff x="2381697" y="3358342"/>
              <a:chExt cx="2897264" cy="1197033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33EF13AF-1B3D-4434-834C-BC2743F37144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5CAAD53-2238-4D19-AFFD-92BB795B8B37}"/>
                  </a:ext>
                </a:extLst>
              </p:cNvPr>
              <p:cNvSpPr txBox="1"/>
              <p:nvPr/>
            </p:nvSpPr>
            <p:spPr>
              <a:xfrm>
                <a:off x="2612980" y="3789290"/>
                <a:ext cx="2410691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en-US" sz="23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PT Sans"/>
                    <a:ea typeface="PT Sans"/>
                    <a:cs typeface="PT Sans"/>
                    <a:sym typeface="PT Sans"/>
                  </a:rPr>
                  <a:t>게시글 수정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36DE9B55-57F2-4DB3-80C4-ADFCC57E127B}"/>
                </a:ext>
              </a:extLst>
            </p:cNvPr>
            <p:cNvGrpSpPr/>
            <p:nvPr/>
          </p:nvGrpSpPr>
          <p:grpSpPr>
            <a:xfrm>
              <a:off x="7755449" y="5680962"/>
              <a:ext cx="2897264" cy="1539034"/>
              <a:chOff x="2381697" y="3358342"/>
              <a:chExt cx="2897264" cy="1197033"/>
            </a:xfrm>
          </p:grpSpPr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76AE7B68-E9D1-40EE-8CE0-1621D5A6AD85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1699ADF-7A1D-46D2-B29B-93F5560B6F54}"/>
                  </a:ext>
                </a:extLst>
              </p:cNvPr>
              <p:cNvSpPr txBox="1"/>
              <p:nvPr/>
            </p:nvSpPr>
            <p:spPr>
              <a:xfrm>
                <a:off x="2731921" y="3651645"/>
                <a:ext cx="2226562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게시글 상세보기</a:t>
                </a:r>
                <a:endParaRPr lang="en-US" altLang="ko-KR" b="1" dirty="0">
                  <a:solidFill>
                    <a:schemeClr val="bg1"/>
                  </a:solidFill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en-US" sz="2300" b="1" i="0" u="none" strike="noStrike" cap="none" spc="0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PT Sans"/>
                    <a:ea typeface="PT Sans"/>
                    <a:cs typeface="PT Sans"/>
                    <a:sym typeface="PT Sans"/>
                  </a:rPr>
                  <a:t>요청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ABB0D3C-5CF5-45EA-9250-A53771ECBE18}"/>
                </a:ext>
              </a:extLst>
            </p:cNvPr>
            <p:cNvGrpSpPr/>
            <p:nvPr/>
          </p:nvGrpSpPr>
          <p:grpSpPr>
            <a:xfrm>
              <a:off x="19816358" y="5700968"/>
              <a:ext cx="2897264" cy="1539034"/>
              <a:chOff x="2381697" y="3358342"/>
              <a:chExt cx="2897264" cy="1197033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A7179144-436B-4DDC-9B97-A5BAD0D44479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62559B-AD5D-40F0-90F3-B015AFAECFEB}"/>
                  </a:ext>
                </a:extLst>
              </p:cNvPr>
              <p:cNvSpPr txBox="1"/>
              <p:nvPr/>
            </p:nvSpPr>
            <p:spPr>
              <a:xfrm>
                <a:off x="2760801" y="3651645"/>
                <a:ext cx="2139053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게시글 업로드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0890AE3-F428-4EA9-BDA9-BE395A57BC61}"/>
                </a:ext>
              </a:extLst>
            </p:cNvPr>
            <p:cNvGrpSpPr/>
            <p:nvPr/>
          </p:nvGrpSpPr>
          <p:grpSpPr>
            <a:xfrm>
              <a:off x="15796055" y="5700968"/>
              <a:ext cx="2897264" cy="1539034"/>
              <a:chOff x="2381697" y="3358342"/>
              <a:chExt cx="2897264" cy="1197033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5703832B-F334-46DC-85AA-A3A5A1B8FAAF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D52B38-9DEA-439F-A530-15311AB0121C}"/>
                  </a:ext>
                </a:extLst>
              </p:cNvPr>
              <p:cNvSpPr txBox="1"/>
              <p:nvPr/>
            </p:nvSpPr>
            <p:spPr>
              <a:xfrm>
                <a:off x="2582786" y="3789290"/>
                <a:ext cx="2493818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en-US" sz="23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PT Sans"/>
                    <a:ea typeface="PT Sans"/>
                    <a:cs typeface="PT Sans"/>
                    <a:sym typeface="PT Sans"/>
                  </a:rPr>
                  <a:t>게시글 삭제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cxnSp>
          <p:nvCxnSpPr>
            <p:cNvPr id="4" name="연결선: 꺾임 3">
              <a:extLst>
                <a:ext uri="{FF2B5EF4-FFF2-40B4-BE49-F238E27FC236}">
                  <a16:creationId xmlns:a16="http://schemas.microsoft.com/office/drawing/2014/main" id="{D78B44C0-0E8B-445A-94F3-FD80B198238E}"/>
                </a:ext>
              </a:extLst>
            </p:cNvPr>
            <p:cNvCxnSpPr>
              <a:cxnSpLocks/>
              <a:stCxn id="5" idx="2"/>
              <a:endCxn id="38" idx="0"/>
            </p:cNvCxnSpPr>
            <p:nvPr/>
          </p:nvCxnSpPr>
          <p:spPr>
            <a:xfrm rot="5400000">
              <a:off x="10946031" y="1535786"/>
              <a:ext cx="2403227" cy="5887125"/>
            </a:xfrm>
            <a:prstGeom prst="bentConnector3">
              <a:avLst>
                <a:gd name="adj1" fmla="val 5000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6AE7B535-3832-4328-9FB3-3A932761AC00}"/>
                </a:ext>
              </a:extLst>
            </p:cNvPr>
            <p:cNvCxnSpPr>
              <a:cxnSpLocks/>
              <a:stCxn id="5" idx="2"/>
              <a:endCxn id="35" idx="0"/>
            </p:cNvCxnSpPr>
            <p:nvPr/>
          </p:nvCxnSpPr>
          <p:spPr>
            <a:xfrm rot="5400000">
              <a:off x="12956181" y="3545938"/>
              <a:ext cx="2403229" cy="1866822"/>
            </a:xfrm>
            <a:prstGeom prst="bentConnector3">
              <a:avLst>
                <a:gd name="adj1" fmla="val 5000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EB26E188-CBB3-454A-9878-3DB7BD74E73A}"/>
                </a:ext>
              </a:extLst>
            </p:cNvPr>
            <p:cNvCxnSpPr>
              <a:cxnSpLocks/>
              <a:stCxn id="5" idx="2"/>
              <a:endCxn id="29" idx="0"/>
            </p:cNvCxnSpPr>
            <p:nvPr/>
          </p:nvCxnSpPr>
          <p:spPr>
            <a:xfrm rot="16200000" flipH="1">
              <a:off x="14956330" y="3412610"/>
              <a:ext cx="2423233" cy="2153481"/>
            </a:xfrm>
            <a:prstGeom prst="bentConnector3">
              <a:avLst>
                <a:gd name="adj1" fmla="val 5000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4E59D38C-114D-4561-8C94-3CAD143FB033}"/>
                </a:ext>
              </a:extLst>
            </p:cNvPr>
            <p:cNvCxnSpPr>
              <a:cxnSpLocks/>
              <a:stCxn id="5" idx="2"/>
              <a:endCxn id="41" idx="0"/>
            </p:cNvCxnSpPr>
            <p:nvPr/>
          </p:nvCxnSpPr>
          <p:spPr>
            <a:xfrm rot="16200000" flipH="1">
              <a:off x="16966482" y="1402459"/>
              <a:ext cx="2423233" cy="6173784"/>
            </a:xfrm>
            <a:prstGeom prst="bentConnector3">
              <a:avLst>
                <a:gd name="adj1" fmla="val 5000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618044FB-E79A-4C5E-81B6-1BE7F2DE4FE1}"/>
                </a:ext>
              </a:extLst>
            </p:cNvPr>
            <p:cNvGrpSpPr/>
            <p:nvPr/>
          </p:nvGrpSpPr>
          <p:grpSpPr>
            <a:xfrm>
              <a:off x="10648816" y="9071418"/>
              <a:ext cx="2897264" cy="1539034"/>
              <a:chOff x="3520223" y="3358342"/>
              <a:chExt cx="2897264" cy="1197033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F7B07489-8FC1-4588-9713-3211870E17EE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1820983-409B-499E-8438-F4D791BD7D9A}"/>
                  </a:ext>
                </a:extLst>
              </p:cNvPr>
              <p:cNvSpPr txBox="1"/>
              <p:nvPr/>
            </p:nvSpPr>
            <p:spPr>
              <a:xfrm>
                <a:off x="3899933" y="3677506"/>
                <a:ext cx="2193641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b="1" dirty="0">
                    <a:solidFill>
                      <a:schemeClr val="bg1"/>
                    </a:solidFill>
                  </a:rPr>
                  <a:t>DB</a:t>
                </a:r>
                <a:r>
                  <a:rPr lang="ko-KR" altLang="en-US" b="1" dirty="0">
                    <a:solidFill>
                      <a:schemeClr val="bg1"/>
                    </a:solidFill>
                  </a:rPr>
                  <a:t>에 접근하는 컨트롤러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cxnSp>
          <p:nvCxnSpPr>
            <p:cNvPr id="97" name="연결선: 꺾임 96">
              <a:extLst>
                <a:ext uri="{FF2B5EF4-FFF2-40B4-BE49-F238E27FC236}">
                  <a16:creationId xmlns:a16="http://schemas.microsoft.com/office/drawing/2014/main" id="{E687A1BF-C2F8-4A2B-8202-3447AF66EEAD}"/>
                </a:ext>
              </a:extLst>
            </p:cNvPr>
            <p:cNvCxnSpPr>
              <a:cxnSpLocks/>
              <a:stCxn id="38" idx="2"/>
              <a:endCxn id="92" idx="0"/>
            </p:cNvCxnSpPr>
            <p:nvPr/>
          </p:nvCxnSpPr>
          <p:spPr>
            <a:xfrm rot="16200000" flipH="1">
              <a:off x="9725053" y="6699023"/>
              <a:ext cx="1851422" cy="2893367"/>
            </a:xfrm>
            <a:prstGeom prst="bentConnector3">
              <a:avLst>
                <a:gd name="adj1" fmla="val 5000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0" name="연결선: 꺾임 99">
              <a:extLst>
                <a:ext uri="{FF2B5EF4-FFF2-40B4-BE49-F238E27FC236}">
                  <a16:creationId xmlns:a16="http://schemas.microsoft.com/office/drawing/2014/main" id="{AC3BB46A-FAAA-4982-8156-3312D5E07C55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 rot="5400000">
              <a:off x="11857353" y="7493341"/>
              <a:ext cx="1818173" cy="1337981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6" name="연결선: 꺾임 105">
              <a:extLst>
                <a:ext uri="{FF2B5EF4-FFF2-40B4-BE49-F238E27FC236}">
                  <a16:creationId xmlns:a16="http://schemas.microsoft.com/office/drawing/2014/main" id="{3460686A-51BE-416B-B08E-DB0CADA1A19C}"/>
                </a:ext>
              </a:extLst>
            </p:cNvPr>
            <p:cNvCxnSpPr>
              <a:cxnSpLocks/>
              <a:stCxn id="29" idx="2"/>
              <a:endCxn id="92" idx="0"/>
            </p:cNvCxnSpPr>
            <p:nvPr/>
          </p:nvCxnSpPr>
          <p:spPr>
            <a:xfrm rot="5400000">
              <a:off x="13755360" y="5582091"/>
              <a:ext cx="1831416" cy="5147239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9" name="연결선: 꺾임 108">
              <a:extLst>
                <a:ext uri="{FF2B5EF4-FFF2-40B4-BE49-F238E27FC236}">
                  <a16:creationId xmlns:a16="http://schemas.microsoft.com/office/drawing/2014/main" id="{2484A98B-EFC5-48DA-8F56-4EF8F7C4C2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765511" y="3588564"/>
              <a:ext cx="1831416" cy="9167542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3F70C2D7-1198-4CCF-BD4D-6F17352C8B4F}"/>
                </a:ext>
              </a:extLst>
            </p:cNvPr>
            <p:cNvCxnSpPr>
              <a:cxnSpLocks/>
              <a:stCxn id="92" idx="3"/>
            </p:cNvCxnSpPr>
            <p:nvPr/>
          </p:nvCxnSpPr>
          <p:spPr>
            <a:xfrm>
              <a:off x="13546080" y="9840935"/>
              <a:ext cx="2993758" cy="0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21" name="Shape 96">
            <a:extLst>
              <a:ext uri="{FF2B5EF4-FFF2-40B4-BE49-F238E27FC236}">
                <a16:creationId xmlns:a16="http://schemas.microsoft.com/office/drawing/2014/main" id="{446DB1EE-BFB8-4B4B-B6B8-A19E80391906}"/>
              </a:ext>
            </a:extLst>
          </p:cNvPr>
          <p:cNvSpPr/>
          <p:nvPr/>
        </p:nvSpPr>
        <p:spPr>
          <a:xfrm>
            <a:off x="1229236" y="8805060"/>
            <a:ext cx="6787171" cy="419495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/>
              <a:t> 사용자가 글 목록을 요청하는 페이지에 들어오면 자동으로 </a:t>
            </a:r>
            <a:r>
              <a:rPr lang="en-US" altLang="ko-KR" b="1" dirty="0"/>
              <a:t>DB</a:t>
            </a:r>
            <a:r>
              <a:rPr lang="ko-KR" altLang="en-US" b="1" dirty="0"/>
              <a:t>에서 현재 등록된 모든 글들을 컨트롤러를 통해 받아와 사용자에게 보여 줍니다</a:t>
            </a:r>
            <a:r>
              <a:rPr lang="en-US" altLang="ko-KR" b="1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</a:t>
            </a:r>
            <a:r>
              <a:rPr lang="ko-KR" altLang="en-US" b="1" dirty="0" err="1"/>
              <a:t>게시글에서</a:t>
            </a:r>
            <a:r>
              <a:rPr lang="ko-KR" altLang="en-US" b="1" dirty="0"/>
              <a:t> </a:t>
            </a:r>
            <a:r>
              <a:rPr lang="en-US" altLang="ko-KR" b="1" dirty="0"/>
              <a:t>DB</a:t>
            </a:r>
            <a:r>
              <a:rPr lang="ko-KR" altLang="en-US" b="1" dirty="0"/>
              <a:t>로 바로 접근하는 것이 아니라 중간 컨트롤러를 통해 </a:t>
            </a:r>
            <a:r>
              <a:rPr lang="en-US" altLang="ko-KR" b="1" dirty="0"/>
              <a:t>DB</a:t>
            </a:r>
            <a:r>
              <a:rPr lang="ko-KR" altLang="en-US" b="1" dirty="0"/>
              <a:t>로 접근하고 있으며 컨트롤러의 상세 코드는 서버에 있기에 내부 알고리즘은 사용자가 알 수 없습니다</a:t>
            </a:r>
            <a:r>
              <a:rPr lang="en-US" altLang="ko-KR" b="1" dirty="0"/>
              <a:t>.</a:t>
            </a:r>
            <a:endParaRPr lang="en-US" b="1" dirty="0"/>
          </a:p>
        </p:txBody>
      </p:sp>
      <p:sp>
        <p:nvSpPr>
          <p:cNvPr id="122" name="Shape 79">
            <a:extLst>
              <a:ext uri="{FF2B5EF4-FFF2-40B4-BE49-F238E27FC236}">
                <a16:creationId xmlns:a16="http://schemas.microsoft.com/office/drawing/2014/main" id="{977A5D2E-0650-40F9-85F2-5D2072A40E32}"/>
              </a:ext>
            </a:extLst>
          </p:cNvPr>
          <p:cNvSpPr txBox="1">
            <a:spLocks/>
          </p:cNvSpPr>
          <p:nvPr/>
        </p:nvSpPr>
        <p:spPr>
          <a:xfrm>
            <a:off x="780236" y="7679428"/>
            <a:ext cx="3785803" cy="1042504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5500" b="1" i="0" dirty="0"/>
              <a:t>상세 설명</a:t>
            </a:r>
            <a:endParaRPr lang="en-US" sz="5500" dirty="0"/>
          </a:p>
        </p:txBody>
      </p:sp>
    </p:spTree>
    <p:extLst>
      <p:ext uri="{BB962C8B-B14F-4D97-AF65-F5344CB8AC3E}">
        <p14:creationId xmlns:p14="http://schemas.microsoft.com/office/powerpoint/2010/main" val="327658574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74">
            <a:extLst>
              <a:ext uri="{FF2B5EF4-FFF2-40B4-BE49-F238E27FC236}">
                <a16:creationId xmlns:a16="http://schemas.microsoft.com/office/drawing/2014/main" id="{C5487CAB-56FE-4085-B6FF-3B6DF37F04A4}"/>
              </a:ext>
            </a:extLst>
          </p:cNvPr>
          <p:cNvSpPr txBox="1">
            <a:spLocks/>
          </p:cNvSpPr>
          <p:nvPr/>
        </p:nvSpPr>
        <p:spPr>
          <a:xfrm>
            <a:off x="353935" y="518505"/>
            <a:ext cx="9147194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altLang="ko-KR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CHATTING CLASS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80C2333-0062-42E8-B09B-DACA3F21A6FB}"/>
              </a:ext>
            </a:extLst>
          </p:cNvPr>
          <p:cNvGrpSpPr/>
          <p:nvPr/>
        </p:nvGrpSpPr>
        <p:grpSpPr>
          <a:xfrm>
            <a:off x="6639334" y="3127407"/>
            <a:ext cx="16629898" cy="7912161"/>
            <a:chOff x="2582723" y="3526418"/>
            <a:chExt cx="16629898" cy="791216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ACF3977-3CB6-4EAF-A910-D48C81ABEC2F}"/>
                </a:ext>
              </a:extLst>
            </p:cNvPr>
            <p:cNvGrpSpPr/>
            <p:nvPr/>
          </p:nvGrpSpPr>
          <p:grpSpPr>
            <a:xfrm>
              <a:off x="11969461" y="7117500"/>
              <a:ext cx="2897264" cy="1539034"/>
              <a:chOff x="3520223" y="3358342"/>
              <a:chExt cx="2897264" cy="1197033"/>
            </a:xfrm>
          </p:grpSpPr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384093C4-02D0-41CF-905E-A8C78BF3A2D1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BF361D-7A73-4194-9DE8-880DE3C7A2BF}"/>
                  </a:ext>
                </a:extLst>
              </p:cNvPr>
              <p:cNvSpPr txBox="1"/>
              <p:nvPr/>
            </p:nvSpPr>
            <p:spPr>
              <a:xfrm>
                <a:off x="3899933" y="3677506"/>
                <a:ext cx="2193641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b="1" dirty="0">
                    <a:solidFill>
                      <a:schemeClr val="bg1"/>
                    </a:solidFill>
                  </a:rPr>
                  <a:t>WEB Socket Listener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558509F-33AC-4733-BFC9-3DA848EB46CF}"/>
                </a:ext>
              </a:extLst>
            </p:cNvPr>
            <p:cNvGrpSpPr/>
            <p:nvPr/>
          </p:nvGrpSpPr>
          <p:grpSpPr>
            <a:xfrm>
              <a:off x="16315357" y="5737908"/>
              <a:ext cx="2897264" cy="1539034"/>
              <a:chOff x="2381697" y="3358342"/>
              <a:chExt cx="2897264" cy="1197033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33EF13AF-1B3D-4434-834C-BC2743F37144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5CAAD53-2238-4D19-AFFD-92BB795B8B37}"/>
                  </a:ext>
                </a:extLst>
              </p:cNvPr>
              <p:cNvSpPr txBox="1"/>
              <p:nvPr/>
            </p:nvSpPr>
            <p:spPr>
              <a:xfrm>
                <a:off x="2661508" y="3651644"/>
                <a:ext cx="2337637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모든 유저에게 메시지 전달 기능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ABB0D3C-5CF5-45EA-9250-A53771ECBE18}"/>
                </a:ext>
              </a:extLst>
            </p:cNvPr>
            <p:cNvGrpSpPr/>
            <p:nvPr/>
          </p:nvGrpSpPr>
          <p:grpSpPr>
            <a:xfrm>
              <a:off x="7028377" y="4581789"/>
              <a:ext cx="2897264" cy="1539034"/>
              <a:chOff x="2381697" y="3358342"/>
              <a:chExt cx="2897264" cy="1197033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A7179144-436B-4DDC-9B97-A5BAD0D44479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62559B-AD5D-40F0-90F3-B015AFAECFEB}"/>
                  </a:ext>
                </a:extLst>
              </p:cNvPr>
              <p:cNvSpPr txBox="1"/>
              <p:nvPr/>
            </p:nvSpPr>
            <p:spPr>
              <a:xfrm>
                <a:off x="2760801" y="3651645"/>
                <a:ext cx="2139053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 err="1">
                    <a:solidFill>
                      <a:schemeClr val="bg1"/>
                    </a:solidFill>
                  </a:rPr>
                  <a:t>채팅방</a:t>
                </a:r>
                <a:r>
                  <a:rPr lang="ko-KR" altLang="en-US" b="1" dirty="0">
                    <a:solidFill>
                      <a:schemeClr val="bg1"/>
                    </a:solidFill>
                  </a:rPr>
                  <a:t> 입장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AD4F7E5F-1428-4A80-B096-0BB38A29E15E}"/>
                </a:ext>
              </a:extLst>
            </p:cNvPr>
            <p:cNvGrpSpPr/>
            <p:nvPr/>
          </p:nvGrpSpPr>
          <p:grpSpPr>
            <a:xfrm>
              <a:off x="2582723" y="3526418"/>
              <a:ext cx="2897264" cy="1539034"/>
              <a:chOff x="2381697" y="3358342"/>
              <a:chExt cx="2897264" cy="1197033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F3D372C7-F6EE-4901-9068-B09DB96121B4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682776C-48AC-40B2-BCCA-D3188FB4AF46}"/>
                  </a:ext>
                </a:extLst>
              </p:cNvPr>
              <p:cNvSpPr txBox="1"/>
              <p:nvPr/>
            </p:nvSpPr>
            <p:spPr>
              <a:xfrm>
                <a:off x="3237081" y="3789290"/>
                <a:ext cx="1157384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2300" b="1" i="0" u="none" strike="noStrike" cap="none" spc="0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PT Sans"/>
                    <a:ea typeface="PT Sans"/>
                    <a:cs typeface="PT Sans"/>
                    <a:sym typeface="PT Sans"/>
                  </a:rPr>
                  <a:t>USER </a:t>
                </a:r>
                <a:r>
                  <a:rPr lang="en-US" altLang="ko-KR" b="1" dirty="0">
                    <a:solidFill>
                      <a:schemeClr val="bg1"/>
                    </a:solidFill>
                  </a:rPr>
                  <a:t>1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37AB5056-3299-4E5F-87AF-D2EC1B9EEEE2}"/>
                </a:ext>
              </a:extLst>
            </p:cNvPr>
            <p:cNvGrpSpPr/>
            <p:nvPr/>
          </p:nvGrpSpPr>
          <p:grpSpPr>
            <a:xfrm>
              <a:off x="2612611" y="5973918"/>
              <a:ext cx="2897264" cy="1539034"/>
              <a:chOff x="2381697" y="3358342"/>
              <a:chExt cx="2897264" cy="119703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D595A27-7019-41EE-90AE-9DEC1AC4AF7B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740D20-EC9D-4E48-ADC0-AC2F8127F95B}"/>
                  </a:ext>
                </a:extLst>
              </p:cNvPr>
              <p:cNvSpPr txBox="1"/>
              <p:nvPr/>
            </p:nvSpPr>
            <p:spPr>
              <a:xfrm>
                <a:off x="3237081" y="3789290"/>
                <a:ext cx="1157384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2300" b="1" i="0" u="none" strike="noStrike" cap="none" spc="0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PT Sans"/>
                    <a:ea typeface="PT Sans"/>
                    <a:cs typeface="PT Sans"/>
                    <a:sym typeface="PT Sans"/>
                  </a:rPr>
                  <a:t>USER 2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39FAB27-13E8-46EA-8CDD-767757A8C8D1}"/>
                </a:ext>
              </a:extLst>
            </p:cNvPr>
            <p:cNvGrpSpPr/>
            <p:nvPr/>
          </p:nvGrpSpPr>
          <p:grpSpPr>
            <a:xfrm>
              <a:off x="16315357" y="8493854"/>
              <a:ext cx="2897264" cy="1539034"/>
              <a:chOff x="3520223" y="3358342"/>
              <a:chExt cx="2897264" cy="1197033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7C53A655-F9A1-4925-9AAF-A17CE9BF9136}"/>
                  </a:ext>
                </a:extLst>
              </p:cNvPr>
              <p:cNvSpPr/>
              <p:nvPr/>
            </p:nvSpPr>
            <p:spPr>
              <a:xfrm>
                <a:off x="3520223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DBF6A1-1778-4C6E-A033-F8A6E6E09A94}"/>
                  </a:ext>
                </a:extLst>
              </p:cNvPr>
              <p:cNvSpPr txBox="1"/>
              <p:nvPr/>
            </p:nvSpPr>
            <p:spPr>
              <a:xfrm>
                <a:off x="3658086" y="3789290"/>
                <a:ext cx="2621538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en-US" sz="23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PT Sans"/>
                    <a:ea typeface="PT Sans"/>
                    <a:cs typeface="PT Sans"/>
                    <a:sym typeface="PT Sans"/>
                  </a:rPr>
                  <a:t>채팅방에 유저 추가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91387B94-3B7D-4597-B345-67AB25043724}"/>
                </a:ext>
              </a:extLst>
            </p:cNvPr>
            <p:cNvGrpSpPr/>
            <p:nvPr/>
          </p:nvGrpSpPr>
          <p:grpSpPr>
            <a:xfrm>
              <a:off x="7028375" y="7117500"/>
              <a:ext cx="2897264" cy="1539034"/>
              <a:chOff x="2381697" y="3358342"/>
              <a:chExt cx="2897264" cy="1197033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8BE27F84-3699-459B-BC45-58AE0394F602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239975-D42D-42BA-8EEA-F67614ECE836}"/>
                  </a:ext>
                </a:extLst>
              </p:cNvPr>
              <p:cNvSpPr txBox="1"/>
              <p:nvPr/>
            </p:nvSpPr>
            <p:spPr>
              <a:xfrm>
                <a:off x="2760801" y="3789290"/>
                <a:ext cx="2139053" cy="33513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b="1" dirty="0">
                    <a:solidFill>
                      <a:schemeClr val="bg1"/>
                    </a:solidFill>
                  </a:rPr>
                  <a:t>Socket </a:t>
                </a:r>
                <a:r>
                  <a:rPr lang="ko-KR" altLang="en-US" b="1" dirty="0">
                    <a:solidFill>
                      <a:schemeClr val="bg1"/>
                    </a:solidFill>
                  </a:rPr>
                  <a:t>생성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0601B0D1-0AE7-401D-B79A-2BA46DC36CCD}"/>
                </a:ext>
              </a:extLst>
            </p:cNvPr>
            <p:cNvGrpSpPr/>
            <p:nvPr/>
          </p:nvGrpSpPr>
          <p:grpSpPr>
            <a:xfrm>
              <a:off x="7028373" y="9899545"/>
              <a:ext cx="2897264" cy="1539034"/>
              <a:chOff x="2381697" y="3358342"/>
              <a:chExt cx="2897264" cy="1197033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9B38357B-531D-4453-98A0-1B3A3768EDBC}"/>
                  </a:ext>
                </a:extLst>
              </p:cNvPr>
              <p:cNvSpPr/>
              <p:nvPr/>
            </p:nvSpPr>
            <p:spPr>
              <a:xfrm>
                <a:off x="2381697" y="3358342"/>
                <a:ext cx="2897264" cy="1197033"/>
              </a:xfrm>
              <a:prstGeom prst="roundRect">
                <a:avLst/>
              </a:prstGeom>
              <a:noFill/>
              <a:ln w="63500" cmpd="sng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300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3F191BC-9319-430B-9446-0AF4AF492C25}"/>
                  </a:ext>
                </a:extLst>
              </p:cNvPr>
              <p:cNvSpPr txBox="1"/>
              <p:nvPr/>
            </p:nvSpPr>
            <p:spPr>
              <a:xfrm>
                <a:off x="2760801" y="3651645"/>
                <a:ext cx="2139053" cy="61042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ko-KR" altLang="en-US" b="1" dirty="0">
                    <a:solidFill>
                      <a:schemeClr val="bg1"/>
                    </a:solidFill>
                  </a:rPr>
                  <a:t>메시지 전달 요청</a:t>
                </a:r>
                <a:endParaRPr kumimoji="0" lang="ko-KR" altLang="en-US" sz="23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</p:grp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A429E132-B821-46BE-9C47-B64A5C941162}"/>
                </a:ext>
              </a:extLst>
            </p:cNvPr>
            <p:cNvCxnSpPr>
              <a:cxnSpLocks/>
              <a:stCxn id="29" idx="3"/>
              <a:endCxn id="41" idx="1"/>
            </p:cNvCxnSpPr>
            <p:nvPr/>
          </p:nvCxnSpPr>
          <p:spPr>
            <a:xfrm>
              <a:off x="5479987" y="4295935"/>
              <a:ext cx="1548390" cy="1055371"/>
            </a:xfrm>
            <a:prstGeom prst="bentConnector3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B38B94D2-7468-498F-B2DE-D2CC530F8F59}"/>
                </a:ext>
              </a:extLst>
            </p:cNvPr>
            <p:cNvCxnSpPr>
              <a:cxnSpLocks/>
              <a:stCxn id="32" idx="3"/>
              <a:endCxn id="41" idx="1"/>
            </p:cNvCxnSpPr>
            <p:nvPr/>
          </p:nvCxnSpPr>
          <p:spPr>
            <a:xfrm flipV="1">
              <a:off x="5509875" y="5351306"/>
              <a:ext cx="1518502" cy="1392129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48F4A675-4BDA-4847-B5C2-48CE021E53D2}"/>
                </a:ext>
              </a:extLst>
            </p:cNvPr>
            <p:cNvCxnSpPr>
              <a:cxnSpLocks/>
              <a:stCxn id="41" idx="2"/>
              <a:endCxn id="54" idx="0"/>
            </p:cNvCxnSpPr>
            <p:nvPr/>
          </p:nvCxnSpPr>
          <p:spPr>
            <a:xfrm flipH="1">
              <a:off x="8477007" y="6120823"/>
              <a:ext cx="2" cy="996677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2D6EF126-191A-4257-A1C7-A2CA2F039C0A}"/>
                </a:ext>
              </a:extLst>
            </p:cNvPr>
            <p:cNvCxnSpPr>
              <a:cxnSpLocks/>
              <a:stCxn id="54" idx="3"/>
              <a:endCxn id="21" idx="1"/>
            </p:cNvCxnSpPr>
            <p:nvPr/>
          </p:nvCxnSpPr>
          <p:spPr>
            <a:xfrm>
              <a:off x="9925639" y="7887017"/>
              <a:ext cx="2043822" cy="0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8AE2DF5-115A-498C-9F52-712293EC4A22}"/>
                </a:ext>
              </a:extLst>
            </p:cNvPr>
            <p:cNvCxnSpPr>
              <a:cxnSpLocks/>
              <a:stCxn id="32" idx="3"/>
              <a:endCxn id="57" idx="1"/>
            </p:cNvCxnSpPr>
            <p:nvPr/>
          </p:nvCxnSpPr>
          <p:spPr>
            <a:xfrm>
              <a:off x="5509875" y="6743435"/>
              <a:ext cx="1518498" cy="3925627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7589ED9B-F9D2-4D60-8BCB-2D30C34AA6B0}"/>
                </a:ext>
              </a:extLst>
            </p:cNvPr>
            <p:cNvCxnSpPr>
              <a:cxnSpLocks/>
              <a:stCxn id="29" idx="3"/>
              <a:endCxn id="57" idx="1"/>
            </p:cNvCxnSpPr>
            <p:nvPr/>
          </p:nvCxnSpPr>
          <p:spPr>
            <a:xfrm>
              <a:off x="5479987" y="4295935"/>
              <a:ext cx="1548386" cy="6373127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763DA884-F6E7-4654-8549-432CA6A91A14}"/>
                </a:ext>
              </a:extLst>
            </p:cNvPr>
            <p:cNvCxnSpPr>
              <a:cxnSpLocks/>
              <a:stCxn id="57" idx="3"/>
              <a:endCxn id="21" idx="2"/>
            </p:cNvCxnSpPr>
            <p:nvPr/>
          </p:nvCxnSpPr>
          <p:spPr>
            <a:xfrm flipV="1">
              <a:off x="9925637" y="8656534"/>
              <a:ext cx="3492456" cy="2012528"/>
            </a:xfrm>
            <a:prstGeom prst="bentConnector2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B04F54C0-8EEA-4661-AFCE-2E8E8127F4C8}"/>
                </a:ext>
              </a:extLst>
            </p:cNvPr>
            <p:cNvCxnSpPr>
              <a:cxnSpLocks/>
              <a:stCxn id="21" idx="3"/>
              <a:endCxn id="35" idx="1"/>
            </p:cNvCxnSpPr>
            <p:nvPr/>
          </p:nvCxnSpPr>
          <p:spPr>
            <a:xfrm flipV="1">
              <a:off x="14866725" y="6507425"/>
              <a:ext cx="1448632" cy="1379592"/>
            </a:xfrm>
            <a:prstGeom prst="bentConnector3">
              <a:avLst>
                <a:gd name="adj1" fmla="val 50000"/>
              </a:avLst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1" name="연결선: 꺾임 80">
              <a:extLst>
                <a:ext uri="{FF2B5EF4-FFF2-40B4-BE49-F238E27FC236}">
                  <a16:creationId xmlns:a16="http://schemas.microsoft.com/office/drawing/2014/main" id="{28EB4B0E-5563-4830-9467-54589D229348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14866725" y="7887017"/>
              <a:ext cx="1448630" cy="1376353"/>
            </a:xfrm>
            <a:prstGeom prst="bentConnector3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4" name="Shape 96">
            <a:extLst>
              <a:ext uri="{FF2B5EF4-FFF2-40B4-BE49-F238E27FC236}">
                <a16:creationId xmlns:a16="http://schemas.microsoft.com/office/drawing/2014/main" id="{77A3676B-EBBA-48D6-B826-361D8E73CD05}"/>
              </a:ext>
            </a:extLst>
          </p:cNvPr>
          <p:cNvSpPr/>
          <p:nvPr/>
        </p:nvSpPr>
        <p:spPr>
          <a:xfrm>
            <a:off x="1229236" y="8805060"/>
            <a:ext cx="6787171" cy="419495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/>
              <a:t> 사용자가 </a:t>
            </a:r>
            <a:r>
              <a:rPr lang="ko-KR" altLang="en-US" b="1" dirty="0" err="1"/>
              <a:t>채팅방</a:t>
            </a:r>
            <a:r>
              <a:rPr lang="ko-KR" altLang="en-US" b="1" dirty="0"/>
              <a:t> 입장 요청을 하면 </a:t>
            </a:r>
            <a:r>
              <a:rPr lang="en-US" altLang="ko-KR" b="1" dirty="0"/>
              <a:t>JS </a:t>
            </a:r>
            <a:r>
              <a:rPr lang="ko-KR" altLang="en-US" b="1" dirty="0"/>
              <a:t>파일에서 </a:t>
            </a:r>
            <a:r>
              <a:rPr lang="en-US" altLang="ko-KR" b="1" dirty="0"/>
              <a:t>WEB Socket</a:t>
            </a:r>
            <a:r>
              <a:rPr lang="ko-KR" altLang="en-US" b="1" dirty="0"/>
              <a:t>을 생성한 후 서버의 </a:t>
            </a:r>
            <a:r>
              <a:rPr lang="en-US" altLang="ko-KR" b="1" dirty="0"/>
              <a:t>Socket Listener</a:t>
            </a:r>
            <a:r>
              <a:rPr lang="ko-KR" altLang="en-US" b="1" dirty="0"/>
              <a:t>로 접속한다</a:t>
            </a:r>
            <a:r>
              <a:rPr lang="en-US" altLang="ko-KR" b="1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</a:t>
            </a:r>
            <a:r>
              <a:rPr lang="ko-KR" altLang="en-US" b="1" dirty="0"/>
              <a:t>오류가 발생하지 않으면 채팅방에 </a:t>
            </a:r>
            <a:r>
              <a:rPr lang="en-US" altLang="ko-KR" b="1" dirty="0"/>
              <a:t>User</a:t>
            </a:r>
            <a:r>
              <a:rPr lang="ko-KR" altLang="en-US" b="1" dirty="0"/>
              <a:t>를 추가하는 기능을 수행하며 유저가 특정 메시지를 전달할 경우 서버는 받은 메시지를 </a:t>
            </a:r>
            <a:r>
              <a:rPr lang="ko-KR" altLang="en-US" b="1" dirty="0" err="1"/>
              <a:t>브로드캐스트</a:t>
            </a:r>
            <a:r>
              <a:rPr lang="ko-KR" altLang="en-US" b="1" dirty="0"/>
              <a:t> 동작을 통해 접속해 있는 모든 유저에게 메시지를 전달합니다</a:t>
            </a:r>
            <a:r>
              <a:rPr lang="en-US" altLang="ko-KR" b="1" dirty="0"/>
              <a:t>.</a:t>
            </a:r>
            <a:endParaRPr lang="en-US" b="1" dirty="0"/>
          </a:p>
        </p:txBody>
      </p:sp>
      <p:sp>
        <p:nvSpPr>
          <p:cNvPr id="85" name="Shape 79">
            <a:extLst>
              <a:ext uri="{FF2B5EF4-FFF2-40B4-BE49-F238E27FC236}">
                <a16:creationId xmlns:a16="http://schemas.microsoft.com/office/drawing/2014/main" id="{00513D8B-C777-4AE4-B0D5-C09677D4083D}"/>
              </a:ext>
            </a:extLst>
          </p:cNvPr>
          <p:cNvSpPr txBox="1">
            <a:spLocks/>
          </p:cNvSpPr>
          <p:nvPr/>
        </p:nvSpPr>
        <p:spPr>
          <a:xfrm>
            <a:off x="780236" y="7679428"/>
            <a:ext cx="3785803" cy="1042504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ko-KR" altLang="en-US" sz="5500" b="1" i="0" dirty="0"/>
              <a:t>상세 설명</a:t>
            </a:r>
            <a:endParaRPr lang="en-US" sz="5500" dirty="0"/>
          </a:p>
        </p:txBody>
      </p:sp>
    </p:spTree>
    <p:extLst>
      <p:ext uri="{BB962C8B-B14F-4D97-AF65-F5344CB8AC3E}">
        <p14:creationId xmlns:p14="http://schemas.microsoft.com/office/powerpoint/2010/main" val="43618075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20"/>
          <p:cNvSpPr/>
          <p:nvPr/>
        </p:nvSpPr>
        <p:spPr>
          <a:xfrm>
            <a:off x="15789358" y="4364792"/>
            <a:ext cx="6573926" cy="43199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 유저 프로필에서 비밀번호를 변경 시 로그인이 안되는 문제가 발생했습니다</a:t>
            </a:r>
            <a:r>
              <a:rPr lang="en-US" altLang="ko-KR" sz="28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 DB</a:t>
            </a:r>
            <a:r>
              <a:rPr lang="ko-KR" altLang="en-US" sz="2800" b="1" dirty="0"/>
              <a:t>를 확인해보니 변경된 비밀번호가 평문으로 저장된 것을 확인되었고 이를 고치기 위해 정보 수정시에도 비밀번호를 암호화하였습니다</a:t>
            </a:r>
            <a:r>
              <a:rPr lang="en-US" altLang="ko-KR" sz="2800" b="1" dirty="0"/>
              <a:t>.</a:t>
            </a:r>
            <a:endParaRPr sz="2800" b="1" dirty="0"/>
          </a:p>
        </p:txBody>
      </p:sp>
      <p:sp>
        <p:nvSpPr>
          <p:cNvPr id="7" name="Shape 74">
            <a:extLst>
              <a:ext uri="{FF2B5EF4-FFF2-40B4-BE49-F238E27FC236}">
                <a16:creationId xmlns:a16="http://schemas.microsoft.com/office/drawing/2014/main" id="{6476B46D-10F9-44BF-ACC4-1523865C0482}"/>
              </a:ext>
            </a:extLst>
          </p:cNvPr>
          <p:cNvSpPr txBox="1">
            <a:spLocks/>
          </p:cNvSpPr>
          <p:nvPr/>
        </p:nvSpPr>
        <p:spPr>
          <a:xfrm>
            <a:off x="353934" y="518505"/>
            <a:ext cx="8690313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altLang="ko-KR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PROBLEM ISSUES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Shape 52">
            <a:extLst>
              <a:ext uri="{FF2B5EF4-FFF2-40B4-BE49-F238E27FC236}">
                <a16:creationId xmlns:a16="http://schemas.microsoft.com/office/drawing/2014/main" id="{A806D96B-AA9B-469A-809F-6D237CF01E25}"/>
              </a:ext>
            </a:extLst>
          </p:cNvPr>
          <p:cNvSpPr/>
          <p:nvPr/>
        </p:nvSpPr>
        <p:spPr>
          <a:xfrm>
            <a:off x="-12232257" y="10945806"/>
            <a:ext cx="36616257" cy="57778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algn="ctr">
              <a:defRPr sz="25000" b="1">
                <a:solidFill>
                  <a:srgbClr val="F0F0F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lang="en-US" dirty="0"/>
              <a:t>JOONGGO MARKET</a:t>
            </a:r>
            <a:endParaRPr dirty="0"/>
          </a:p>
        </p:txBody>
      </p:sp>
      <p:sp>
        <p:nvSpPr>
          <p:cNvPr id="9" name="Shape 79">
            <a:extLst>
              <a:ext uri="{FF2B5EF4-FFF2-40B4-BE49-F238E27FC236}">
                <a16:creationId xmlns:a16="http://schemas.microsoft.com/office/drawing/2014/main" id="{E300F1EF-D195-4604-9FA5-993ECE2AA9D5}"/>
              </a:ext>
            </a:extLst>
          </p:cNvPr>
          <p:cNvSpPr txBox="1">
            <a:spLocks/>
          </p:cNvSpPr>
          <p:nvPr/>
        </p:nvSpPr>
        <p:spPr>
          <a:xfrm>
            <a:off x="15307450" y="3322288"/>
            <a:ext cx="5435883" cy="1042504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sz="5500" dirty="0"/>
              <a:t>User Class Issues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2739C9-9F19-44D1-A4EC-726603CD5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59" y="3008768"/>
            <a:ext cx="13228610" cy="706656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11468ED-A599-42B4-82B4-2625E2DF958E}"/>
              </a:ext>
            </a:extLst>
          </p:cNvPr>
          <p:cNvSpPr/>
          <p:nvPr/>
        </p:nvSpPr>
        <p:spPr>
          <a:xfrm>
            <a:off x="1744133" y="5418667"/>
            <a:ext cx="11599334" cy="1185333"/>
          </a:xfrm>
          <a:prstGeom prst="rect">
            <a:avLst/>
          </a:prstGeom>
          <a:noFill/>
          <a:ln w="57150" cap="flat">
            <a:solidFill>
              <a:schemeClr val="accent5"/>
            </a:solidFill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92582374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20"/>
          <p:cNvSpPr/>
          <p:nvPr/>
        </p:nvSpPr>
        <p:spPr>
          <a:xfrm>
            <a:off x="14782800" y="4364792"/>
            <a:ext cx="7580484" cy="602892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/>
              <a:t> 유저 정보를 처음 소켓 연결을 할 때 바로 서버에 넘겨 처리를 하려고 하나의 함수에 작성했습니다</a:t>
            </a:r>
            <a:r>
              <a:rPr lang="en-US" altLang="ko-KR" sz="2800" b="1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altLang="ko-KR" sz="2800" b="1" dirty="0"/>
              <a:t> </a:t>
            </a:r>
            <a:r>
              <a:rPr lang="ko-KR" altLang="en-US" sz="2800" b="1" dirty="0"/>
              <a:t>확인 결과 유저 정보가 채팅방에 추가되지 않는 것을 알게 되어 확인해보니 유저 정보가 </a:t>
            </a:r>
            <a:r>
              <a:rPr lang="en-US" altLang="ko-KR" sz="2800" b="1" dirty="0"/>
              <a:t>Null </a:t>
            </a:r>
            <a:r>
              <a:rPr lang="ko-KR" altLang="en-US" sz="2800" b="1" dirty="0"/>
              <a:t>값이 들어 있다는 것을 알 수 있었습니다</a:t>
            </a:r>
            <a:r>
              <a:rPr lang="en-US" altLang="ko-KR" sz="2800" b="1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800" b="1" dirty="0"/>
              <a:t> </a:t>
            </a:r>
            <a:r>
              <a:rPr lang="ko-KR" altLang="en-US" sz="2800" b="1" dirty="0"/>
              <a:t>이에 소켓 연결할 때 유저 정보를 넘기는 것이 아니라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따로 함수를 선언하여 유저 정보를 넘기니 문제가 해결되었습니다</a:t>
            </a:r>
            <a:r>
              <a:rPr lang="en-US" altLang="ko-KR" sz="2800" b="1" dirty="0"/>
              <a:t>.</a:t>
            </a:r>
          </a:p>
        </p:txBody>
      </p:sp>
      <p:sp>
        <p:nvSpPr>
          <p:cNvPr id="7" name="Shape 74">
            <a:extLst>
              <a:ext uri="{FF2B5EF4-FFF2-40B4-BE49-F238E27FC236}">
                <a16:creationId xmlns:a16="http://schemas.microsoft.com/office/drawing/2014/main" id="{6476B46D-10F9-44BF-ACC4-1523865C0482}"/>
              </a:ext>
            </a:extLst>
          </p:cNvPr>
          <p:cNvSpPr txBox="1">
            <a:spLocks/>
          </p:cNvSpPr>
          <p:nvPr/>
        </p:nvSpPr>
        <p:spPr>
          <a:xfrm>
            <a:off x="353934" y="518505"/>
            <a:ext cx="8690313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altLang="ko-KR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PROBLEM ISSUES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Shape 52">
            <a:extLst>
              <a:ext uri="{FF2B5EF4-FFF2-40B4-BE49-F238E27FC236}">
                <a16:creationId xmlns:a16="http://schemas.microsoft.com/office/drawing/2014/main" id="{A806D96B-AA9B-469A-809F-6D237CF01E25}"/>
              </a:ext>
            </a:extLst>
          </p:cNvPr>
          <p:cNvSpPr/>
          <p:nvPr/>
        </p:nvSpPr>
        <p:spPr>
          <a:xfrm>
            <a:off x="-12232257" y="10945806"/>
            <a:ext cx="36616257" cy="57778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rmAutofit/>
          </a:bodyPr>
          <a:lstStyle>
            <a:lvl1pPr algn="ctr">
              <a:defRPr sz="25000" b="1">
                <a:solidFill>
                  <a:srgbClr val="F0F0F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lang="en-US" dirty="0"/>
              <a:t>JOONGGO MARKET</a:t>
            </a:r>
            <a:endParaRPr dirty="0"/>
          </a:p>
        </p:txBody>
      </p:sp>
      <p:sp>
        <p:nvSpPr>
          <p:cNvPr id="9" name="Shape 79">
            <a:extLst>
              <a:ext uri="{FF2B5EF4-FFF2-40B4-BE49-F238E27FC236}">
                <a16:creationId xmlns:a16="http://schemas.microsoft.com/office/drawing/2014/main" id="{E300F1EF-D195-4604-9FA5-993ECE2AA9D5}"/>
              </a:ext>
            </a:extLst>
          </p:cNvPr>
          <p:cNvSpPr txBox="1">
            <a:spLocks/>
          </p:cNvSpPr>
          <p:nvPr/>
        </p:nvSpPr>
        <p:spPr>
          <a:xfrm>
            <a:off x="14475142" y="3322288"/>
            <a:ext cx="6268191" cy="1042504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sz="5500" dirty="0"/>
              <a:t>Chatting Class Issues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4E6C70-D30B-4ECF-948A-8F11C4189F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270" r="5888"/>
          <a:stretch/>
        </p:blipFill>
        <p:spPr>
          <a:xfrm>
            <a:off x="1259328" y="4109500"/>
            <a:ext cx="11724746" cy="69163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312045-3B2A-46D3-821A-A2E5D734C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8" b="89490"/>
          <a:stretch/>
        </p:blipFill>
        <p:spPr>
          <a:xfrm>
            <a:off x="1259328" y="2398978"/>
            <a:ext cx="11724746" cy="152296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9D876B-AE35-49E3-BA51-02CEEF5E309C}"/>
              </a:ext>
            </a:extLst>
          </p:cNvPr>
          <p:cNvSpPr/>
          <p:nvPr/>
        </p:nvSpPr>
        <p:spPr>
          <a:xfrm flipV="1">
            <a:off x="1327060" y="4333638"/>
            <a:ext cx="4328673" cy="491067"/>
          </a:xfrm>
          <a:prstGeom prst="rect">
            <a:avLst/>
          </a:prstGeom>
          <a:noFill/>
          <a:ln w="57150" cap="flat">
            <a:solidFill>
              <a:schemeClr val="accent5"/>
            </a:solidFill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1128D9-B641-4A1F-8BD4-CAD308DF8EFA}"/>
              </a:ext>
            </a:extLst>
          </p:cNvPr>
          <p:cNvSpPr/>
          <p:nvPr/>
        </p:nvSpPr>
        <p:spPr>
          <a:xfrm flipV="1">
            <a:off x="1310128" y="2733434"/>
            <a:ext cx="4379472" cy="491067"/>
          </a:xfrm>
          <a:prstGeom prst="rect">
            <a:avLst/>
          </a:prstGeom>
          <a:noFill/>
          <a:ln w="57150" cap="flat">
            <a:solidFill>
              <a:schemeClr val="accent5"/>
            </a:solidFill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26676966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4">
            <a:extLst>
              <a:ext uri="{FF2B5EF4-FFF2-40B4-BE49-F238E27FC236}">
                <a16:creationId xmlns:a16="http://schemas.microsoft.com/office/drawing/2014/main" id="{6476B46D-10F9-44BF-ACC4-1523865C0482}"/>
              </a:ext>
            </a:extLst>
          </p:cNvPr>
          <p:cNvSpPr txBox="1">
            <a:spLocks/>
          </p:cNvSpPr>
          <p:nvPr/>
        </p:nvSpPr>
        <p:spPr>
          <a:xfrm>
            <a:off x="353934" y="518505"/>
            <a:ext cx="8690313" cy="1329930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altLang="ko-KR" sz="80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PROBLEM ISSUES</a:t>
            </a:r>
            <a:endParaRPr lang="en-US" sz="8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Shape 52">
            <a:extLst>
              <a:ext uri="{FF2B5EF4-FFF2-40B4-BE49-F238E27FC236}">
                <a16:creationId xmlns:a16="http://schemas.microsoft.com/office/drawing/2014/main" id="{A806D96B-AA9B-469A-809F-6D237CF01E25}"/>
              </a:ext>
            </a:extLst>
          </p:cNvPr>
          <p:cNvSpPr/>
          <p:nvPr/>
        </p:nvSpPr>
        <p:spPr>
          <a:xfrm>
            <a:off x="-12232257" y="10945806"/>
            <a:ext cx="36616257" cy="57778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>
            <a:lvl1pPr algn="ctr">
              <a:defRPr sz="25000" b="1">
                <a:solidFill>
                  <a:srgbClr val="F0F0F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lang="en-US" dirty="0"/>
              <a:t>JOONGGO MARKET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D7DADF-6C56-4E16-A529-6DCF4003F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89"/>
          <a:stretch/>
        </p:blipFill>
        <p:spPr>
          <a:xfrm>
            <a:off x="914400" y="2341160"/>
            <a:ext cx="19519651" cy="317910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A6FAEA-522D-4A2E-AB10-CF6A21A511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356" b="34924"/>
          <a:stretch/>
        </p:blipFill>
        <p:spPr>
          <a:xfrm>
            <a:off x="914400" y="5732155"/>
            <a:ext cx="11035772" cy="1329930"/>
          </a:xfrm>
          <a:prstGeom prst="rect">
            <a:avLst/>
          </a:prstGeom>
        </p:spPr>
      </p:pic>
      <p:sp>
        <p:nvSpPr>
          <p:cNvPr id="16" name="Shape 79">
            <a:extLst>
              <a:ext uri="{FF2B5EF4-FFF2-40B4-BE49-F238E27FC236}">
                <a16:creationId xmlns:a16="http://schemas.microsoft.com/office/drawing/2014/main" id="{8891F9B1-F56A-4F43-A58E-3D4116B1EB66}"/>
              </a:ext>
            </a:extLst>
          </p:cNvPr>
          <p:cNvSpPr txBox="1">
            <a:spLocks/>
          </p:cNvSpPr>
          <p:nvPr/>
        </p:nvSpPr>
        <p:spPr>
          <a:xfrm>
            <a:off x="759142" y="7538444"/>
            <a:ext cx="6268191" cy="1042504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9pPr>
          </a:lstStyle>
          <a:p>
            <a:pPr hangingPunct="1"/>
            <a:r>
              <a:rPr lang="en-US" sz="5500" dirty="0"/>
              <a:t>Board</a:t>
            </a:r>
            <a:r>
              <a:rPr lang="ko-KR" altLang="en-US" sz="5500" dirty="0"/>
              <a:t> </a:t>
            </a:r>
            <a:r>
              <a:rPr lang="en-US" sz="5500" dirty="0"/>
              <a:t>Class Issues</a:t>
            </a:r>
          </a:p>
        </p:txBody>
      </p:sp>
      <p:sp>
        <p:nvSpPr>
          <p:cNvPr id="17" name="Shape 96">
            <a:extLst>
              <a:ext uri="{FF2B5EF4-FFF2-40B4-BE49-F238E27FC236}">
                <a16:creationId xmlns:a16="http://schemas.microsoft.com/office/drawing/2014/main" id="{5A31A425-6306-4E2B-9C42-74C3198060B7}"/>
              </a:ext>
            </a:extLst>
          </p:cNvPr>
          <p:cNvSpPr/>
          <p:nvPr/>
        </p:nvSpPr>
        <p:spPr>
          <a:xfrm>
            <a:off x="914400" y="8580948"/>
            <a:ext cx="16035867" cy="279389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noAutofit/>
          </a:bodyPr>
          <a:lstStyle/>
          <a:p>
            <a:pPr>
              <a:lnSpc>
                <a:spcPct val="170000"/>
              </a:lnSpc>
            </a:pPr>
            <a:r>
              <a:rPr lang="ko-KR" altLang="en-US" sz="2800" b="1" dirty="0"/>
              <a:t> 게시판의 카테고리 별 목록 조회 시 모든 목록을 불러오는 경우 특별한 상수 값을 설정하는 것이 아닌</a:t>
            </a:r>
            <a:endParaRPr lang="en-US" altLang="ko-KR" sz="2800" b="1" dirty="0"/>
          </a:p>
          <a:p>
            <a:pPr>
              <a:lnSpc>
                <a:spcPct val="170000"/>
              </a:lnSpc>
            </a:pPr>
            <a:r>
              <a:rPr lang="en-US" sz="2800" b="1" dirty="0"/>
              <a:t> Null </a:t>
            </a:r>
            <a:r>
              <a:rPr lang="ko-KR" altLang="en-US" sz="2800" b="1" dirty="0"/>
              <a:t>값을 기준으로 잡고 진행하였습니다</a:t>
            </a:r>
            <a:r>
              <a:rPr lang="en-US" altLang="ko-KR" sz="2800" b="1" dirty="0"/>
              <a:t>. </a:t>
            </a:r>
            <a:r>
              <a:rPr lang="ko-KR" altLang="en-US" sz="2800" b="1" dirty="0"/>
              <a:t>그 결과 모든 목록을 불러오는 카테고리가 동작 안 하는 것을 확인하였으며 이에 상수 값 </a:t>
            </a:r>
            <a:r>
              <a:rPr lang="en-US" altLang="ko-KR" sz="2800" b="1" dirty="0"/>
              <a:t>ALL</a:t>
            </a:r>
            <a:r>
              <a:rPr lang="ko-KR" altLang="en-US" sz="2800" b="1" dirty="0"/>
              <a:t>을 추가하여 이를 기준으로 카테고리 별 조회를 진행하였더니 정상 동작하였습니다</a:t>
            </a:r>
            <a:r>
              <a:rPr lang="en-US" altLang="ko-KR" sz="2800" b="1" dirty="0"/>
              <a:t>.</a:t>
            </a:r>
            <a:endParaRPr sz="28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902A29-90DE-4147-9E20-5BB9711317B1}"/>
              </a:ext>
            </a:extLst>
          </p:cNvPr>
          <p:cNvSpPr/>
          <p:nvPr/>
        </p:nvSpPr>
        <p:spPr>
          <a:xfrm flipV="1">
            <a:off x="18474267" y="4215104"/>
            <a:ext cx="1625599" cy="491067"/>
          </a:xfrm>
          <a:prstGeom prst="rect">
            <a:avLst/>
          </a:prstGeom>
          <a:noFill/>
          <a:ln w="57150" cap="flat">
            <a:solidFill>
              <a:schemeClr val="accent5"/>
            </a:solidFill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70FFFB-D1E1-420F-8F53-8F575046EDFD}"/>
              </a:ext>
            </a:extLst>
          </p:cNvPr>
          <p:cNvSpPr/>
          <p:nvPr/>
        </p:nvSpPr>
        <p:spPr>
          <a:xfrm flipV="1">
            <a:off x="8771468" y="5730858"/>
            <a:ext cx="1456266" cy="491067"/>
          </a:xfrm>
          <a:prstGeom prst="rect">
            <a:avLst/>
          </a:prstGeom>
          <a:noFill/>
          <a:ln w="57150" cap="flat">
            <a:solidFill>
              <a:schemeClr val="accent5"/>
            </a:solidFill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3477720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봉투, 문구이(가) 표시된 사진&#10;&#10;높은 신뢰도로 생성된 설명">
            <a:extLst>
              <a:ext uri="{FF2B5EF4-FFF2-40B4-BE49-F238E27FC236}">
                <a16:creationId xmlns:a16="http://schemas.microsoft.com/office/drawing/2014/main" id="{B834EB10-C4E4-45F7-8390-29F7285AB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9" name="직각 삼각형 8"/>
          <p:cNvSpPr/>
          <p:nvPr/>
        </p:nvSpPr>
        <p:spPr>
          <a:xfrm rot="10800000">
            <a:off x="17926494" y="0"/>
            <a:ext cx="6500040" cy="13716000"/>
          </a:xfrm>
          <a:prstGeom prst="rtTriangle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600"/>
          </a:p>
        </p:txBody>
      </p:sp>
      <p:sp>
        <p:nvSpPr>
          <p:cNvPr id="10" name="직각 삼각형 9"/>
          <p:cNvSpPr/>
          <p:nvPr/>
        </p:nvSpPr>
        <p:spPr>
          <a:xfrm rot="16200000">
            <a:off x="14098599" y="3395506"/>
            <a:ext cx="6939870" cy="13716000"/>
          </a:xfrm>
          <a:prstGeom prst="rtTriangle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6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D1FA7D-EDD8-4DC8-83F3-C04E7ACB4D94}"/>
              </a:ext>
            </a:extLst>
          </p:cNvPr>
          <p:cNvSpPr/>
          <p:nvPr/>
        </p:nvSpPr>
        <p:spPr>
          <a:xfrm>
            <a:off x="1" y="0"/>
            <a:ext cx="24383998" cy="13716000"/>
          </a:xfrm>
          <a:prstGeom prst="rect">
            <a:avLst/>
          </a:prstGeom>
          <a:solidFill>
            <a:srgbClr val="FFFFFF">
              <a:alpha val="53000"/>
            </a:srgbClr>
          </a:solidFill>
          <a:ln w="3175" cap="flat">
            <a:noFill/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6FFD6C5-E79E-46DE-83E8-967E7F58FC85}"/>
              </a:ext>
            </a:extLst>
          </p:cNvPr>
          <p:cNvSpPr txBox="1"/>
          <p:nvPr/>
        </p:nvSpPr>
        <p:spPr>
          <a:xfrm>
            <a:off x="2431136" y="3078664"/>
            <a:ext cx="11135235" cy="1631216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0" b="1" spc="-30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4761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939393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Regular"/>
        <a:ea typeface="Montserrat-Regular"/>
        <a:cs typeface="Montserrat-Regular"/>
      </a:majorFont>
      <a:minorFont>
        <a:latin typeface="Montserrat-Regular"/>
        <a:ea typeface="Montserrat-Regular"/>
        <a:cs typeface="Montserrat-Regula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254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300" b="0" i="0" u="none" strike="noStrike" cap="none" spc="0" normalizeH="0" baseline="0">
            <a:ln>
              <a:noFill/>
            </a:ln>
            <a:solidFill>
              <a:srgbClr val="939393"/>
            </a:solidFill>
            <a:effectLst/>
            <a:uFillTx/>
            <a:latin typeface="PT Sans"/>
            <a:ea typeface="PT Sans"/>
            <a:cs typeface="PT Sans"/>
            <a:sym typeface="PT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Regular"/>
        <a:ea typeface="Montserrat-Regular"/>
        <a:cs typeface="Montserrat-Regular"/>
      </a:majorFont>
      <a:minorFont>
        <a:latin typeface="Montserrat-Regular"/>
        <a:ea typeface="Montserrat-Regular"/>
        <a:cs typeface="Montserrat-Regula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254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300" b="0" i="0" u="none" strike="noStrike" cap="none" spc="0" normalizeH="0" baseline="0">
            <a:ln>
              <a:noFill/>
            </a:ln>
            <a:solidFill>
              <a:srgbClr val="939393"/>
            </a:solidFill>
            <a:effectLst/>
            <a:uFillTx/>
            <a:latin typeface="PT Sans"/>
            <a:ea typeface="PT Sans"/>
            <a:cs typeface="PT Sans"/>
            <a:sym typeface="PT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883</Words>
  <Application>Microsoft Office PowerPoint</Application>
  <PresentationFormat>사용자 지정</PresentationFormat>
  <Paragraphs>240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7" baseType="lpstr">
      <vt:lpstr>Bebas</vt:lpstr>
      <vt:lpstr>Helvetica Light</vt:lpstr>
      <vt:lpstr>Helvetica Neue</vt:lpstr>
      <vt:lpstr>Montserrat-Regular</vt:lpstr>
      <vt:lpstr>Noto Sans</vt:lpstr>
      <vt:lpstr>Playfair Display</vt:lpstr>
      <vt:lpstr>Playfair Display Black</vt:lpstr>
      <vt:lpstr>PT Sans</vt:lpstr>
      <vt:lpstr>Roboto Regular</vt:lpstr>
      <vt:lpstr>나눔고딕 ExtraBold</vt:lpstr>
      <vt:lpstr>나눔바른고딕</vt:lpstr>
      <vt:lpstr>맑은 고딕</vt:lpstr>
      <vt:lpstr>Arial</vt:lpstr>
      <vt:lpstr>Calibri</vt:lpstr>
      <vt:lpstr>White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Goals and Expectations</vt:lpstr>
      <vt:lpstr>PowerPoint 프레젠테이션</vt:lpstr>
      <vt:lpstr>PROJECT Schedule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1584009@pcu.ac.kr</cp:lastModifiedBy>
  <cp:revision>34</cp:revision>
  <dcterms:modified xsi:type="dcterms:W3CDTF">2021-06-19T05:47:45Z</dcterms:modified>
</cp:coreProperties>
</file>